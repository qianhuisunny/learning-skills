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By the end of this module, you'll be able to do three things. First, you'll differentiate a procurement plan from a project plan. Second, you'll identify the eight components every procurement plan needs. And third, you'll select the right contract type for a given project.</a:t>
            </a:r>
          </a:p>
          <a:p/>
          <a:p>
            <a:r>
              <a:t>VISUAL/GRAPHIC DESCRIPTION:</a:t>
            </a:r>
          </a:p>
          <a:p>
            <a:r>
              <a:t>Three objectives listed with numbered badges.</a:t>
            </a:r>
          </a:p>
          <a:p/>
          <a:p>
            <a:r>
              <a:t>INTERACTION &amp; DEV NOTES:</a:t>
            </a:r>
          </a:p>
          <a:p>
            <a:r>
              <a:t>No interaction. Click Next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You already work with project plans every day. A project plan covers scope, timeline, resources, and deliverables. It answers the question: what are we building, and when will it be done?</a:t>
            </a:r>
          </a:p>
          <a:p/>
          <a:p>
            <a:r>
              <a:t>VISUAL/GRAPHIC DESCRIPTION:</a:t>
            </a:r>
          </a:p>
          <a:p>
            <a:r>
              <a:t>Text slide with three dash bullets on dark background.</a:t>
            </a:r>
          </a:p>
          <a:p/>
          <a:p>
            <a:r>
              <a:t>INTERACTION &amp; DEV NOTES:</a:t>
            </a:r>
          </a:p>
          <a:p>
            <a:r>
              <a:t>No interaction. Click Next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A procurement plan answers a different question: not what are we building, but how will we buy what we need? It defines how purchases will be managed, what contract types you'll use, and how you'll select vendors.</a:t>
            </a:r>
          </a:p>
          <a:p/>
          <a:p>
            <a:r>
              <a:t>VISUAL/GRAPHIC DESCRIPTION:</a:t>
            </a:r>
          </a:p>
          <a:p>
            <a:r>
              <a:t>Left: diagram showing procurement plan as a parallel document to the project plan, with arrows showing how procurement feeds into project timeline. Right: three key bullets.</a:t>
            </a:r>
          </a:p>
          <a:p/>
          <a:p>
            <a:r>
              <a:t>INTERACTION &amp; DEV NOTES:</a:t>
            </a:r>
          </a:p>
          <a:p>
            <a:r>
              <a:t>No interaction. Click Next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Here's the key contrast. Your project plan asks what and when. Your procurement plan asks how and from whom. The project plan owns scope and schedule. The procurement plan owns commercial strategy — vendor selection, contract structure, and risk allocation.</a:t>
            </a:r>
          </a:p>
          <a:p/>
          <a:p>
            <a:r>
              <a:t>VISUAL/GRAPHIC DESCRIPTION:</a:t>
            </a:r>
          </a:p>
          <a:p>
            <a:r>
              <a:t>Three bullet points with contrasting pairs. Each bullet highlights the scope boundary between the two documents.</a:t>
            </a:r>
          </a:p>
          <a:p/>
          <a:p>
            <a:r>
              <a:t>INTERACTION &amp; DEV NOTES:</a:t>
            </a:r>
          </a:p>
          <a:p>
            <a:r>
              <a:t>No interaction. Click Next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A procurement plan has eight components, but don't worry — they group into three phases. Define: what are we buying. Execute: how are we buying it. Govern: who makes the decisions. This framework will help you keep track as we explore each component.</a:t>
            </a:r>
          </a:p>
          <a:p/>
          <a:p>
            <a:r>
              <a:t>VISUAL/GRAPHIC DESCRIPTION:</a:t>
            </a:r>
          </a:p>
          <a:p>
            <a:r>
              <a:t>Three dash bullets, each representing a phase with 2-3 component names in parentheses.</a:t>
            </a:r>
          </a:p>
          <a:p/>
          <a:p>
            <a:r>
              <a:t>INTERACTION &amp; DEV NOTES:</a:t>
            </a:r>
          </a:p>
          <a:p>
            <a:r>
              <a:t>No interaction. Click Next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Now let's explore each of the eight components. Click on any component to open it. You'll need to visit all eight before you can move on.</a:t>
            </a:r>
          </a:p>
          <a:p/>
          <a:p>
            <a:r>
              <a:t>VISUAL/GRAPHIC DESCRIPTION:</a:t>
            </a:r>
          </a:p>
          <a:p>
            <a:r>
              <a:t>Eight horizontal bars stacked vertically, each with a number badge and component name.</a:t>
            </a:r>
          </a:p>
          <a:p/>
          <a:p>
            <a:r>
              <a:t>INTERACTION &amp; DEV NOTES:</a:t>
            </a:r>
          </a:p>
          <a:p>
            <a:r>
              <a:t>L12 menu hub. Learner clicks each bar to open a popup. Next button disabled until all 8 are visited. Visited bars show a green checkmark.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objectives and criteria. Clear measurable targets aligned to sponsor expectations Evaluation criteria weighted by strategic priority Acceptance thresholds agreed with the steering group Remember: tie every criterion back to a sponsor-owned success measure.</a:t>
            </a:r>
          </a:p>
          <a:p/>
          <a:p>
            <a:r>
              <a:t>VISUAL/GRAPHIC DESCRIPTION:</a:t>
            </a:r>
          </a:p>
          <a:p>
            <a:r>
              <a:t>Pop-up panel over the menu hub. Component 1: Objectives and criteria. Key message at top, bullets below.</a:t>
            </a:r>
          </a:p>
          <a:p/>
          <a:p>
            <a:r>
              <a:t>INTERACTION &amp; DEV NOTES:</a:t>
            </a:r>
          </a:p>
          <a:p>
            <a:r>
              <a:t>Pop-up overlay on anchor slide 2.5-6. X button closes and returns to anchor with checkmark on bar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scope and packaging. Decide single-package vs multi-package procurement Balance integration risk against vendor leverage Map each package to a delivery milestone Remember: packaging is your first risk allocation decision — get it right before vendors are involved.</a:t>
            </a:r>
          </a:p>
          <a:p/>
          <a:p>
            <a:r>
              <a:t>VISUAL/GRAPHIC DESCRIPTION:</a:t>
            </a:r>
          </a:p>
          <a:p>
            <a:r>
              <a:t>Pop-up panel over the menu hub. Component 2: Scope and packaging. Key message at top, bullets below.</a:t>
            </a:r>
          </a:p>
          <a:p/>
          <a:p>
            <a:r>
              <a:t>INTERACTION &amp; DEV NOTES:</a:t>
            </a:r>
          </a:p>
          <a:p>
            <a:r>
              <a:t>Pop-up overlay on anchor slide 2.5-6. X button closes and returns to anchor with checkmark on bar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procurement method. Open tender: maximum competition, higher admin effort Restricted tender: pre-qualified shortlist, faster Direct appointment: speed, but must justify sole-source Remember: match the method to the market — don't default to open tender for every package.</a:t>
            </a:r>
          </a:p>
          <a:p/>
          <a:p>
            <a:r>
              <a:t>VISUAL/GRAPHIC DESCRIPTION:</a:t>
            </a:r>
          </a:p>
          <a:p>
            <a:r>
              <a:t>Pop-up panel over the menu hub. Component 3: Procurement method. Key message at top, bullets below.</a:t>
            </a:r>
          </a:p>
          <a:p/>
          <a:p>
            <a:r>
              <a:t>INTERACTION &amp; DEV NOTES:</a:t>
            </a:r>
          </a:p>
          <a:p>
            <a:r>
              <a:t>Pop-up overlay on anchor slide 2.5-6. X button closes and returns to anchor with checkmark on bar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contract type. Fixed-price: risk sits with the vendor, less flexibility for changes Time-and-materials: flexibility for the buyer, risk on cost overruns Hybrid (capped T&amp;M): shared risk, caps protect the buyer Remember: contract type is the single biggest risk-allocation lever in the plan.</a:t>
            </a:r>
          </a:p>
          <a:p/>
          <a:p>
            <a:r>
              <a:t>VISUAL/GRAPHIC DESCRIPTION:</a:t>
            </a:r>
          </a:p>
          <a:p>
            <a:r>
              <a:t>Pop-up panel over the menu hub. Component 4: Contract type. Key message at top, bullets below.</a:t>
            </a:r>
          </a:p>
          <a:p/>
          <a:p>
            <a:r>
              <a:t>INTERACTION &amp; DEV NOTES:</a:t>
            </a:r>
          </a:p>
          <a:p>
            <a:r>
              <a:t>Pop-up overlay on anchor slide 2.5-6. X button closes and returns to anchor with checkmark on bar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evaluation approach. Technical merit: does the solution meet requirements? Price competitiveness: is the cost reasonable for the market? Risk profile: what could go wrong with this vendor? Past performance: has this vendor delivered similar work? Remember: weight criteria before you see proposals — not after.</a:t>
            </a:r>
          </a:p>
          <a:p/>
          <a:p>
            <a:r>
              <a:t>VISUAL/GRAPHIC DESCRIPTION:</a:t>
            </a:r>
          </a:p>
          <a:p>
            <a:r>
              <a:t>Pop-up panel over the menu hub. Component 5: Evaluation approach. Key message at top, bullets below.</a:t>
            </a:r>
          </a:p>
          <a:p/>
          <a:p>
            <a:r>
              <a:t>INTERACTION &amp; DEV NOTES:</a:t>
            </a:r>
          </a:p>
          <a:p>
            <a:r>
              <a:t>Pop-up overlay on anchor slide 2.5-6. X button closes and returns to anchor with checkmark on bar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risk and contingency. Identify procurement-specific risks (vendor insolvency, supply chain disruption) Assign risk to the party best positioned to manage it Build contingency into timeline and budget — not just cost Remember: risk allocation happens in the contract — if it's not written down, you own it.</a:t>
            </a:r>
          </a:p>
          <a:p/>
          <a:p>
            <a:r>
              <a:t>VISUAL/GRAPHIC DESCRIPTION:</a:t>
            </a:r>
          </a:p>
          <a:p>
            <a:r>
              <a:t>Pop-up panel over the menu hub. Component 6: Risk and contingency. Key message at top, bullets below.</a:t>
            </a:r>
          </a:p>
          <a:p/>
          <a:p>
            <a:r>
              <a:t>INTERACTION &amp; DEV NOTES:</a:t>
            </a:r>
          </a:p>
          <a:p>
            <a:r>
              <a:t>Pop-up overlay on anchor slide 2.5-6. X button closes and returns to anchor with checkmark on bar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schedule and milestones. Map procurement timeline to project critical path Build in lead times for tender, evaluation, and mobilization Identify dependencies between packages Remember: procurement delay is the #1 cause of project schedule slip in complex programs.</a:t>
            </a:r>
          </a:p>
          <a:p/>
          <a:p>
            <a:r>
              <a:t>VISUAL/GRAPHIC DESCRIPTION:</a:t>
            </a:r>
          </a:p>
          <a:p>
            <a:r>
              <a:t>Pop-up panel over the menu hub. Component 7: Schedule and milestones. Key message at top, bullets below.</a:t>
            </a:r>
          </a:p>
          <a:p/>
          <a:p>
            <a:r>
              <a:t>INTERACTION &amp; DEV NOTES:</a:t>
            </a:r>
          </a:p>
          <a:p>
            <a:r>
              <a:t>Pop-up overlay on anchor slide 2.5-6. X button closes and returns to anchor with checkmark on bar 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look at governance and approvals. Define approval authority levels (who signs what value) Establish the evaluation panel composition Set escalation path for disputes and variations Remember: clear governance prevents the 'who approved this?' conversation six months in.</a:t>
            </a:r>
          </a:p>
          <a:p/>
          <a:p>
            <a:r>
              <a:t>VISUAL/GRAPHIC DESCRIPTION:</a:t>
            </a:r>
          </a:p>
          <a:p>
            <a:r>
              <a:t>Pop-up panel over the menu hub. Component 8: Governance and approvals. Key message at top, bullets below.</a:t>
            </a:r>
          </a:p>
          <a:p/>
          <a:p>
            <a:r>
              <a:t>INTERACTION &amp; DEV NOTES:</a:t>
            </a:r>
          </a:p>
          <a:p>
            <a:r>
              <a:t>Pop-up overlay on anchor slide 2.5-6. X button closes and returns to anchor with checkmark on bar 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VISUAL/GRAPHIC DESCRIPTION:</a:t>
            </a:r>
          </a:p>
          <a:p>
            <a:r>
              <a:t>All 8 bars show green checkmarks. Continue button active.</a:t>
            </a:r>
          </a:p>
          <a:p/>
          <a:p>
            <a:r>
              <a:t>INTERACTION &amp; DEV NOTES:</a:t>
            </a:r>
          </a:p>
          <a:p>
            <a:r>
              <a:t>All tiles visited. Next button now enabled.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Time to check your understanding. Read the scenario and select the contract type that best fits.</a:t>
            </a:r>
          </a:p>
          <a:p/>
          <a:p>
            <a:r>
              <a:t>VISUAL/GRAPHIC DESCRIPTION:</a:t>
            </a:r>
          </a:p>
          <a:p>
            <a:r>
              <a:t>MCQ with 4 options. Submit button at bottom.</a:t>
            </a:r>
          </a:p>
          <a:p/>
          <a:p>
            <a:r>
              <a:t>INTERACTION &amp; DEV NOTES:</a:t>
            </a:r>
          </a:p>
          <a:p>
            <a:r>
              <a:t>L09 MCQ. Learner selects one option, then clicks Submit. Next is disabled until submitted.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see how you did.</a:t>
            </a:r>
          </a:p>
          <a:p/>
          <a:p>
            <a:r>
              <a:t>FEEDBACK — CORRECT:</a:t>
            </a:r>
          </a:p>
          <a:p>
            <a:r>
              <a:t>Fixed-price is the right choice. Well-defined scope plus fixed deadline means scope changes are unlikely.</a:t>
            </a:r>
          </a:p>
          <a:p/>
          <a:p>
            <a:r>
              <a:t>FEEDBACK — INCORRECT:</a:t>
            </a:r>
          </a:p>
          <a:p>
            <a:r>
              <a:t>Fixed-price was the better fit here. T&amp;M gives flexibility you don't need, and cost-plus removes cost control incentive.</a:t>
            </a:r>
          </a:p>
          <a:p/>
          <a:p>
            <a:r>
              <a:t>DEV NOTES:</a:t>
            </a:r>
          </a:p>
          <a:p>
            <a:r>
              <a:t>Left 2/3 shows the question with the learner's selection marked. Right 1/3 shows feedback panel (green for correct, red for incorrect). Score recorded via cmi.core.score.raw.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recap. A procurement plan answers how will we buy — that's separate from your project plan. The eight components fall into three phases: define, execute, and govern. And contract type is your single biggest lever for allocating risk.</a:t>
            </a:r>
          </a:p>
          <a:p/>
          <a:p>
            <a:r>
              <a:t>VISUAL/GRAPHIC DESCRIPTION:</a:t>
            </a:r>
          </a:p>
          <a:p>
            <a:r>
              <a:t>Three takeaway cards with yellow left border. Finish button at bottom.</a:t>
            </a:r>
          </a:p>
          <a:p/>
          <a:p>
            <a:r>
              <a:t>INTERACTION &amp; DEV NOTES:</a:t>
            </a:r>
          </a:p>
          <a:p>
            <a:r>
              <a:t>L14 summary. On entry, triggers cmi.core.lesson_status = 'completed'. Finish button calls LMSFinish.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0"/>
            <a:ext cx="9144000" cy="381000"/>
          </a:xfrm>
          <a:prstGeom prst="rect">
            <a:avLst/>
          </a:prstGeom>
          <a:noFill/>
        </p:spPr>
        <p:txBody>
          <a:bodyPr wrap="square">
            <a:spAutoFit/>
          </a:bodyPr>
          <a:lstStyle/>
          <a:p>
            <a:pPr algn="l">
              <a:lnSpc>
                <a:spcPts val="2700"/>
              </a:lnSpc>
              <a:defRPr sz="1800" b="1">
                <a:solidFill>
                  <a:srgbClr val="AAAAAA"/>
                </a:solidFill>
                <a:latin typeface="Calibri"/>
              </a:defRPr>
            </a:pPr>
            <a:r>
              <a:t>MODULE 2.5</a:t>
            </a:r>
          </a:p>
        </p:txBody>
      </p:sp>
      <p:sp>
        <p:nvSpPr>
          <p:cNvPr id="4" name="TextBox 3"/>
          <p:cNvSpPr txBox="1"/>
          <p:nvPr/>
        </p:nvSpPr>
        <p:spPr>
          <a:xfrm>
            <a:off x="640080" y="2560320"/>
            <a:ext cx="9144000" cy="1097280"/>
          </a:xfrm>
          <a:prstGeom prst="rect">
            <a:avLst/>
          </a:prstGeom>
          <a:noFill/>
        </p:spPr>
        <p:txBody>
          <a:bodyPr wrap="square">
            <a:spAutoFit/>
          </a:bodyPr>
          <a:lstStyle/>
          <a:p>
            <a:pPr algn="l">
              <a:lnSpc>
                <a:spcPts val="6600"/>
              </a:lnSpc>
              <a:defRPr sz="4400" b="1">
                <a:solidFill>
                  <a:srgbClr val="FFFFFF"/>
                </a:solidFill>
                <a:latin typeface="Calibri"/>
              </a:defRPr>
            </a:pPr>
            <a:r>
              <a:t>Developing the procurement plan</a:t>
            </a:r>
          </a:p>
        </p:txBody>
      </p:sp>
      <p:sp>
        <p:nvSpPr>
          <p:cNvPr id="5" name="TextBox 4"/>
          <p:cNvSpPr txBox="1"/>
          <p:nvPr/>
        </p:nvSpPr>
        <p:spPr>
          <a:xfrm>
            <a:off x="640080" y="3840480"/>
            <a:ext cx="9144000" cy="381000"/>
          </a:xfrm>
          <a:prstGeom prst="rect">
            <a:avLst/>
          </a:prstGeom>
          <a:noFill/>
        </p:spPr>
        <p:txBody>
          <a:bodyPr wrap="square">
            <a:spAutoFit/>
          </a:bodyPr>
          <a:lstStyle/>
          <a:p>
            <a:pPr algn="l">
              <a:lnSpc>
                <a:spcPts val="2700"/>
              </a:lnSpc>
              <a:defRPr sz="1800" b="0">
                <a:solidFill>
                  <a:srgbClr val="AAAAAA"/>
                </a:solidFill>
                <a:latin typeface="Calibri"/>
              </a:defRPr>
            </a:pPr>
            <a:r>
              <a:t>For project managers responsible for procurement decisions</a:t>
            </a:r>
          </a:p>
        </p:txBody>
      </p:sp>
      <p:sp>
        <p:nvSpPr>
          <p:cNvPr id="6" name="TextBox 5"/>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a:t>
            </a:r>
          </a:p>
        </p:txBody>
      </p:sp>
      <p:sp>
        <p:nvSpPr>
          <p:cNvPr id="7" name="TextBox 6"/>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8" name="TextBox 7"/>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What you will be able to do</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2.5-1  |  L13</a:t>
            </a:r>
          </a:p>
        </p:txBody>
      </p:sp>
      <p:sp>
        <p:nvSpPr>
          <p:cNvPr id="4" name="Oval 3"/>
          <p:cNvSpPr/>
          <p:nvPr/>
        </p:nvSpPr>
        <p:spPr>
          <a:xfrm>
            <a:off x="640080" y="1645920"/>
            <a:ext cx="365760" cy="365760"/>
          </a:xfrm>
          <a:prstGeom prst="ellipse">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365760" cy="365760"/>
          </a:xfrm>
          <a:prstGeom prst="rect">
            <a:avLst/>
          </a:prstGeom>
          <a:noFill/>
        </p:spPr>
        <p:txBody>
          <a:bodyPr wrap="square">
            <a:spAutoFit/>
          </a:bodyPr>
          <a:lstStyle/>
          <a:p>
            <a:pPr algn="ctr">
              <a:lnSpc>
                <a:spcPts val="2100"/>
              </a:lnSpc>
              <a:defRPr sz="1400" b="1">
                <a:solidFill>
                  <a:srgbClr val="FFFFFF"/>
                </a:solidFill>
                <a:latin typeface="Calibri"/>
              </a:defRPr>
            </a:pPr>
            <a:r>
              <a:t>1</a:t>
            </a:r>
          </a:p>
        </p:txBody>
      </p:sp>
      <p:sp>
        <p:nvSpPr>
          <p:cNvPr id="6" name="TextBox 5"/>
          <p:cNvSpPr txBox="1"/>
          <p:nvPr/>
        </p:nvSpPr>
        <p:spPr>
          <a:xfrm>
            <a:off x="1188720" y="1645920"/>
            <a:ext cx="10058400" cy="457200"/>
          </a:xfrm>
          <a:prstGeom prst="rect">
            <a:avLst/>
          </a:prstGeom>
          <a:noFill/>
        </p:spPr>
        <p:txBody>
          <a:bodyPr wrap="square">
            <a:spAutoFit/>
          </a:bodyPr>
          <a:lstStyle/>
          <a:p>
            <a:pPr algn="l">
              <a:lnSpc>
                <a:spcPts val="2400"/>
              </a:lnSpc>
              <a:defRPr sz="1600" b="0">
                <a:solidFill>
                  <a:srgbClr val="FFFFFF"/>
                </a:solidFill>
                <a:latin typeface="Calibri"/>
              </a:defRPr>
            </a:pPr>
            <a:r>
              <a:t>Differentiate a procurement plan from a project plan by scope and purpose</a:t>
            </a:r>
          </a:p>
        </p:txBody>
      </p:sp>
      <p:sp>
        <p:nvSpPr>
          <p:cNvPr id="7" name="Oval 6"/>
          <p:cNvSpPr/>
          <p:nvPr/>
        </p:nvSpPr>
        <p:spPr>
          <a:xfrm>
            <a:off x="640080" y="2286000"/>
            <a:ext cx="365760" cy="365760"/>
          </a:xfrm>
          <a:prstGeom prst="ellipse">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365760" cy="365760"/>
          </a:xfrm>
          <a:prstGeom prst="rect">
            <a:avLst/>
          </a:prstGeom>
          <a:noFill/>
        </p:spPr>
        <p:txBody>
          <a:bodyPr wrap="square">
            <a:spAutoFit/>
          </a:bodyPr>
          <a:lstStyle/>
          <a:p>
            <a:pPr algn="ctr">
              <a:lnSpc>
                <a:spcPts val="2100"/>
              </a:lnSpc>
              <a:defRPr sz="1400" b="1">
                <a:solidFill>
                  <a:srgbClr val="FFFFFF"/>
                </a:solidFill>
                <a:latin typeface="Calibri"/>
              </a:defRPr>
            </a:pPr>
            <a:r>
              <a:t>2</a:t>
            </a:r>
          </a:p>
        </p:txBody>
      </p:sp>
      <p:sp>
        <p:nvSpPr>
          <p:cNvPr id="9" name="TextBox 8"/>
          <p:cNvSpPr txBox="1"/>
          <p:nvPr/>
        </p:nvSpPr>
        <p:spPr>
          <a:xfrm>
            <a:off x="1188720" y="2286000"/>
            <a:ext cx="10058400" cy="457200"/>
          </a:xfrm>
          <a:prstGeom prst="rect">
            <a:avLst/>
          </a:prstGeom>
          <a:noFill/>
        </p:spPr>
        <p:txBody>
          <a:bodyPr wrap="square">
            <a:spAutoFit/>
          </a:bodyPr>
          <a:lstStyle/>
          <a:p>
            <a:pPr algn="l">
              <a:lnSpc>
                <a:spcPts val="2400"/>
              </a:lnSpc>
              <a:defRPr sz="1600" b="0">
                <a:solidFill>
                  <a:srgbClr val="FFFFFF"/>
                </a:solidFill>
                <a:latin typeface="Calibri"/>
              </a:defRPr>
            </a:pPr>
            <a:r>
              <a:t>Identify the 8 components of a procurement plan and their role</a:t>
            </a:r>
          </a:p>
        </p:txBody>
      </p:sp>
      <p:sp>
        <p:nvSpPr>
          <p:cNvPr id="10" name="Oval 9"/>
          <p:cNvSpPr/>
          <p:nvPr/>
        </p:nvSpPr>
        <p:spPr>
          <a:xfrm>
            <a:off x="640080" y="2926080"/>
            <a:ext cx="365760" cy="365760"/>
          </a:xfrm>
          <a:prstGeom prst="ellipse">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26080"/>
            <a:ext cx="365760" cy="365760"/>
          </a:xfrm>
          <a:prstGeom prst="rect">
            <a:avLst/>
          </a:prstGeom>
          <a:noFill/>
        </p:spPr>
        <p:txBody>
          <a:bodyPr wrap="square">
            <a:spAutoFit/>
          </a:bodyPr>
          <a:lstStyle/>
          <a:p>
            <a:pPr algn="ctr">
              <a:lnSpc>
                <a:spcPts val="2100"/>
              </a:lnSpc>
              <a:defRPr sz="1400" b="1">
                <a:solidFill>
                  <a:srgbClr val="FFFFFF"/>
                </a:solidFill>
                <a:latin typeface="Calibri"/>
              </a:defRPr>
            </a:pPr>
            <a:r>
              <a:t>3</a:t>
            </a:r>
          </a:p>
        </p:txBody>
      </p:sp>
      <p:sp>
        <p:nvSpPr>
          <p:cNvPr id="12" name="TextBox 11"/>
          <p:cNvSpPr txBox="1"/>
          <p:nvPr/>
        </p:nvSpPr>
        <p:spPr>
          <a:xfrm>
            <a:off x="1188720" y="2926080"/>
            <a:ext cx="10058400" cy="457200"/>
          </a:xfrm>
          <a:prstGeom prst="rect">
            <a:avLst/>
          </a:prstGeom>
          <a:noFill/>
        </p:spPr>
        <p:txBody>
          <a:bodyPr wrap="square">
            <a:spAutoFit/>
          </a:bodyPr>
          <a:lstStyle/>
          <a:p>
            <a:pPr algn="l">
              <a:lnSpc>
                <a:spcPts val="2400"/>
              </a:lnSpc>
              <a:defRPr sz="1600" b="0">
                <a:solidFill>
                  <a:srgbClr val="FFFFFF"/>
                </a:solidFill>
                <a:latin typeface="Calibri"/>
              </a:defRPr>
            </a:pPr>
            <a:r>
              <a:t>Select the appropriate contract type given project constraints</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2</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You already use a project plan</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2.5-2  |  L01</a:t>
            </a:r>
          </a:p>
        </p:txBody>
      </p:sp>
      <p:sp>
        <p:nvSpPr>
          <p:cNvPr id="4" name="TextBox 3"/>
          <p:cNvSpPr txBox="1"/>
          <p:nvPr/>
        </p:nvSpPr>
        <p:spPr>
          <a:xfrm>
            <a:off x="640080" y="1280160"/>
            <a:ext cx="10881360" cy="1828800"/>
          </a:xfrm>
          <a:prstGeom prst="rect">
            <a:avLst/>
          </a:prstGeom>
          <a:noFill/>
        </p:spPr>
        <p:txBody>
          <a:bodyPr wrap="square">
            <a:spAutoFit/>
          </a:bodyPr>
          <a:lstStyle/>
          <a:p>
            <a:pPr algn="l">
              <a:lnSpc>
                <a:spcPts val="2700"/>
              </a:lnSpc>
              <a:defRPr sz="1800" b="0">
                <a:solidFill>
                  <a:srgbClr val="FFFFFF"/>
                </a:solidFill>
                <a:latin typeface="Calibri"/>
              </a:defRPr>
            </a:pPr>
            <a:r>
              <a:t>Before we talk about procurement plans, let's anchor to something familiar.</a:t>
            </a:r>
          </a:p>
        </p:txBody>
      </p:sp>
      <p:sp>
        <p:nvSpPr>
          <p:cNvPr id="5" name="TextBox 4"/>
          <p:cNvSpPr txBox="1"/>
          <p:nvPr/>
        </p:nvSpPr>
        <p:spPr>
          <a:xfrm>
            <a:off x="640080" y="2743200"/>
            <a:ext cx="10881360" cy="3200400"/>
          </a:xfrm>
          <a:prstGeom prst="rect">
            <a:avLst/>
          </a:prstGeom>
          <a:noFill/>
        </p:spPr>
        <p:txBody>
          <a:bodyPr wrap="square">
            <a:spAutoFit/>
          </a:bodyPr>
          <a:lstStyle/>
          <a:p>
            <a:pPr>
              <a:lnSpc>
                <a:spcPts val="2400"/>
              </a:lnSpc>
              <a:spcAft>
                <a:spcPts val="1000"/>
              </a:spcAft>
            </a:pPr>
            <a:r>
              <a:rPr sz="1200">
                <a:solidFill>
                  <a:srgbClr val="7AB648"/>
                </a:solidFill>
                <a:latin typeface="Calibri"/>
              </a:rPr>
              <a:t>●  </a:t>
            </a:r>
            <a:r>
              <a:rPr sz="1500">
                <a:solidFill>
                  <a:srgbClr val="FFFFFF"/>
                </a:solidFill>
                <a:latin typeface="Calibri"/>
              </a:rPr>
              <a:t>A project plan covers scope, timeline, resources, and deliverables</a:t>
            </a:r>
          </a:p>
          <a:p>
            <a:pPr>
              <a:lnSpc>
                <a:spcPts val="2400"/>
              </a:lnSpc>
              <a:spcAft>
                <a:spcPts val="1000"/>
              </a:spcAft>
            </a:pPr>
            <a:r>
              <a:rPr sz="1200">
                <a:solidFill>
                  <a:srgbClr val="7AB648"/>
                </a:solidFill>
                <a:latin typeface="Calibri"/>
              </a:rPr>
              <a:t>●  </a:t>
            </a:r>
            <a:r>
              <a:rPr sz="1500">
                <a:solidFill>
                  <a:srgbClr val="FFFFFF"/>
                </a:solidFill>
                <a:latin typeface="Calibri"/>
              </a:rPr>
              <a:t>It answers: what are we building, and when?</a:t>
            </a:r>
          </a:p>
          <a:p>
            <a:pPr>
              <a:lnSpc>
                <a:spcPts val="2400"/>
              </a:lnSpc>
              <a:spcAft>
                <a:spcPts val="1000"/>
              </a:spcAft>
            </a:pPr>
            <a:r>
              <a:rPr sz="1200">
                <a:solidFill>
                  <a:srgbClr val="7AB648"/>
                </a:solidFill>
                <a:latin typeface="Calibri"/>
              </a:rPr>
              <a:t>●  </a:t>
            </a:r>
            <a:r>
              <a:rPr sz="1500">
                <a:solidFill>
                  <a:srgbClr val="FFFFFF"/>
                </a:solidFill>
                <a:latin typeface="Calibri"/>
              </a:rPr>
              <a:t>Every PM creates one — it's the backbone of project execution</a:t>
            </a:r>
          </a:p>
        </p:txBody>
      </p:sp>
      <p:sp>
        <p:nvSpPr>
          <p:cNvPr id="6" name="TextBox 5"/>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3</a:t>
            </a:r>
          </a:p>
        </p:txBody>
      </p:sp>
      <p:sp>
        <p:nvSpPr>
          <p:cNvPr id="7" name="TextBox 6"/>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8" name="TextBox 7"/>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What is a procurement plan</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2.5-3  |  L03</a:t>
            </a:r>
          </a:p>
        </p:txBody>
      </p:sp>
      <p:sp>
        <p:nvSpPr>
          <p:cNvPr id="4" name="Rectangle 3"/>
          <p:cNvSpPr/>
          <p:nvPr/>
        </p:nvSpPr>
        <p:spPr>
          <a:xfrm>
            <a:off x="640080" y="1280160"/>
            <a:ext cx="6400800" cy="4389120"/>
          </a:xfrm>
          <a:prstGeom prst="rect">
            <a:avLst/>
          </a:prstGeom>
          <a:solidFill>
            <a:srgbClr val="253045"/>
          </a:solidFill>
          <a:ln w="12700">
            <a:solidFill>
              <a:srgbClr val="1A9A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6035040" cy="4023360"/>
          </a:xfrm>
          <a:prstGeom prst="rect">
            <a:avLst/>
          </a:prstGeom>
          <a:noFill/>
        </p:spPr>
        <p:txBody>
          <a:bodyPr wrap="square">
            <a:spAutoFit/>
          </a:bodyPr>
          <a:lstStyle/>
          <a:p>
            <a:pPr algn="ctr">
              <a:lnSpc>
                <a:spcPts val="1950"/>
              </a:lnSpc>
              <a:defRPr sz="1300" b="0">
                <a:solidFill>
                  <a:srgbClr val="AAAAAA"/>
                </a:solidFill>
                <a:latin typeface="Calibri"/>
              </a:defRPr>
            </a:pPr>
            <a:r>
              <a:t>Visual: procurement plan as a subset document that feeds into the project plan</a:t>
            </a:r>
          </a:p>
        </p:txBody>
      </p:sp>
      <p:sp>
        <p:nvSpPr>
          <p:cNvPr id="6" name="TextBox 5"/>
          <p:cNvSpPr txBox="1"/>
          <p:nvPr/>
        </p:nvSpPr>
        <p:spPr>
          <a:xfrm>
            <a:off x="7315200" y="1280160"/>
            <a:ext cx="4389120" cy="381000"/>
          </a:xfrm>
          <a:prstGeom prst="rect">
            <a:avLst/>
          </a:prstGeom>
          <a:noFill/>
        </p:spPr>
        <p:txBody>
          <a:bodyPr wrap="square">
            <a:spAutoFit/>
          </a:bodyPr>
          <a:lstStyle/>
          <a:p>
            <a:pPr algn="l">
              <a:lnSpc>
                <a:spcPts val="3000"/>
              </a:lnSpc>
              <a:defRPr sz="2000" b="1">
                <a:solidFill>
                  <a:srgbClr val="FFFFFF"/>
                </a:solidFill>
                <a:latin typeface="Calibri"/>
              </a:defRPr>
            </a:pPr>
            <a:r>
              <a:t>A different question</a:t>
            </a:r>
          </a:p>
        </p:txBody>
      </p:sp>
      <p:sp>
        <p:nvSpPr>
          <p:cNvPr id="7" name="TextBox 6"/>
          <p:cNvSpPr txBox="1"/>
          <p:nvPr/>
        </p:nvSpPr>
        <p:spPr>
          <a:xfrm>
            <a:off x="7315200" y="1828800"/>
            <a:ext cx="4389120" cy="1828800"/>
          </a:xfrm>
          <a:prstGeom prst="rect">
            <a:avLst/>
          </a:prstGeom>
          <a:noFill/>
        </p:spPr>
        <p:txBody>
          <a:bodyPr wrap="square">
            <a:spAutoFit/>
          </a:bodyPr>
          <a:lstStyle/>
          <a:p>
            <a:pPr algn="l">
              <a:lnSpc>
                <a:spcPts val="2400"/>
              </a:lnSpc>
              <a:defRPr sz="1600" b="0">
                <a:solidFill>
                  <a:srgbClr val="FFFFFF"/>
                </a:solidFill>
                <a:latin typeface="Calibri"/>
              </a:defRPr>
            </a:pPr>
            <a:r>
              <a:t>A procurement plan answers: how will we buy, and from whom?</a:t>
            </a:r>
          </a:p>
        </p:txBody>
      </p:sp>
      <p:sp>
        <p:nvSpPr>
          <p:cNvPr id="8" name="TextBox 7"/>
          <p:cNvSpPr txBox="1"/>
          <p:nvPr/>
        </p:nvSpPr>
        <p:spPr>
          <a:xfrm>
            <a:off x="7315200" y="3200400"/>
            <a:ext cx="4389120" cy="2743200"/>
          </a:xfrm>
          <a:prstGeom prst="rect">
            <a:avLst/>
          </a:prstGeom>
          <a:noFill/>
        </p:spPr>
        <p:txBody>
          <a:bodyPr wrap="square">
            <a:spAutoFit/>
          </a:bodyPr>
          <a:lstStyle/>
          <a:p>
            <a:pPr>
              <a:lnSpc>
                <a:spcPts val="2400"/>
              </a:lnSpc>
              <a:spcAft>
                <a:spcPts val="1000"/>
              </a:spcAft>
            </a:pPr>
            <a:r>
              <a:rPr sz="1200">
                <a:solidFill>
                  <a:srgbClr val="7AB648"/>
                </a:solidFill>
                <a:latin typeface="Calibri"/>
              </a:rPr>
              <a:t>●  </a:t>
            </a:r>
            <a:r>
              <a:rPr sz="1500">
                <a:solidFill>
                  <a:srgbClr val="FFFFFF"/>
                </a:solidFill>
                <a:latin typeface="Calibri"/>
              </a:rPr>
              <a:t>Defines how purchases will be managed across the project</a:t>
            </a:r>
          </a:p>
          <a:p>
            <a:pPr>
              <a:lnSpc>
                <a:spcPts val="2400"/>
              </a:lnSpc>
              <a:spcAft>
                <a:spcPts val="1000"/>
              </a:spcAft>
            </a:pPr>
            <a:r>
              <a:rPr sz="1200">
                <a:solidFill>
                  <a:srgbClr val="7AB648"/>
                </a:solidFill>
                <a:latin typeface="Calibri"/>
              </a:rPr>
              <a:t>●  </a:t>
            </a:r>
            <a:r>
              <a:rPr sz="1500">
                <a:solidFill>
                  <a:srgbClr val="FFFFFF"/>
                </a:solidFill>
                <a:latin typeface="Calibri"/>
              </a:rPr>
              <a:t>Covers vendor selection, contract type, and delivery timing</a:t>
            </a:r>
          </a:p>
          <a:p>
            <a:pPr>
              <a:lnSpc>
                <a:spcPts val="2400"/>
              </a:lnSpc>
              <a:spcAft>
                <a:spcPts val="1000"/>
              </a:spcAft>
            </a:pPr>
            <a:r>
              <a:rPr sz="1200">
                <a:solidFill>
                  <a:srgbClr val="7AB648"/>
                </a:solidFill>
                <a:latin typeface="Calibri"/>
              </a:rPr>
              <a:t>●  </a:t>
            </a:r>
            <a:r>
              <a:rPr sz="1500">
                <a:solidFill>
                  <a:srgbClr val="FFFFFF"/>
                </a:solidFill>
                <a:latin typeface="Calibri"/>
              </a:rPr>
              <a:t>Lives alongside the project plan — not inside it</a:t>
            </a:r>
          </a:p>
        </p:txBody>
      </p:sp>
      <p:sp>
        <p:nvSpPr>
          <p:cNvPr id="9" name="TextBox 8"/>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4</a:t>
            </a:r>
          </a:p>
        </p:txBody>
      </p:sp>
      <p:sp>
        <p:nvSpPr>
          <p:cNvPr id="10" name="TextBox 9"/>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1" name="TextBox 10"/>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Project plan vs procurement plan</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2.5-4  |  L01</a:t>
            </a:r>
          </a:p>
        </p:txBody>
      </p:sp>
      <p:sp>
        <p:nvSpPr>
          <p:cNvPr id="4" name="TextBox 3"/>
          <p:cNvSpPr txBox="1"/>
          <p:nvPr/>
        </p:nvSpPr>
        <p:spPr>
          <a:xfrm>
            <a:off x="640080" y="1280160"/>
            <a:ext cx="10881360" cy="1828800"/>
          </a:xfrm>
          <a:prstGeom prst="rect">
            <a:avLst/>
          </a:prstGeom>
          <a:noFill/>
        </p:spPr>
        <p:txBody>
          <a:bodyPr wrap="square">
            <a:spAutoFit/>
          </a:bodyPr>
          <a:lstStyle/>
          <a:p>
            <a:pPr algn="l">
              <a:lnSpc>
                <a:spcPts val="2700"/>
              </a:lnSpc>
              <a:defRPr sz="1800" b="0">
                <a:solidFill>
                  <a:srgbClr val="FFFFFF"/>
                </a:solidFill>
                <a:latin typeface="Calibri"/>
              </a:defRPr>
            </a:pPr>
            <a:r>
              <a:t>Two documents, two questions, one project.</a:t>
            </a:r>
          </a:p>
        </p:txBody>
      </p:sp>
      <p:sp>
        <p:nvSpPr>
          <p:cNvPr id="5" name="TextBox 4"/>
          <p:cNvSpPr txBox="1"/>
          <p:nvPr/>
        </p:nvSpPr>
        <p:spPr>
          <a:xfrm>
            <a:off x="640080" y="2743200"/>
            <a:ext cx="10881360" cy="3200400"/>
          </a:xfrm>
          <a:prstGeom prst="rect">
            <a:avLst/>
          </a:prstGeom>
          <a:noFill/>
        </p:spPr>
        <p:txBody>
          <a:bodyPr wrap="square">
            <a:spAutoFit/>
          </a:bodyPr>
          <a:lstStyle/>
          <a:p>
            <a:pPr>
              <a:lnSpc>
                <a:spcPts val="2400"/>
              </a:lnSpc>
              <a:spcAft>
                <a:spcPts val="1000"/>
              </a:spcAft>
            </a:pPr>
            <a:r>
              <a:rPr sz="1200">
                <a:solidFill>
                  <a:srgbClr val="7AB648"/>
                </a:solidFill>
                <a:latin typeface="Calibri"/>
              </a:rPr>
              <a:t>●  </a:t>
            </a:r>
            <a:r>
              <a:rPr sz="1500">
                <a:solidFill>
                  <a:srgbClr val="FFFFFF"/>
                </a:solidFill>
                <a:latin typeface="Calibri"/>
              </a:rPr>
              <a:t>Project plan asks: WHAT are we building and WHEN?</a:t>
            </a:r>
          </a:p>
          <a:p>
            <a:pPr>
              <a:lnSpc>
                <a:spcPts val="2400"/>
              </a:lnSpc>
              <a:spcAft>
                <a:spcPts val="1000"/>
              </a:spcAft>
            </a:pPr>
            <a:r>
              <a:rPr sz="1200">
                <a:solidFill>
                  <a:srgbClr val="7AB648"/>
                </a:solidFill>
                <a:latin typeface="Calibri"/>
              </a:rPr>
              <a:t>●  </a:t>
            </a:r>
            <a:r>
              <a:rPr sz="1500">
                <a:solidFill>
                  <a:srgbClr val="FFFFFF"/>
                </a:solidFill>
                <a:latin typeface="Calibri"/>
              </a:rPr>
              <a:t>Procurement plan asks: HOW do we buy and FROM WHOM?</a:t>
            </a:r>
          </a:p>
          <a:p>
            <a:pPr>
              <a:lnSpc>
                <a:spcPts val="2400"/>
              </a:lnSpc>
              <a:spcAft>
                <a:spcPts val="1000"/>
              </a:spcAft>
            </a:pPr>
            <a:r>
              <a:rPr sz="1200">
                <a:solidFill>
                  <a:srgbClr val="7AB648"/>
                </a:solidFill>
                <a:latin typeface="Calibri"/>
              </a:rPr>
              <a:t>●  </a:t>
            </a:r>
            <a:r>
              <a:rPr sz="1500">
                <a:solidFill>
                  <a:srgbClr val="FFFFFF"/>
                </a:solidFill>
                <a:latin typeface="Calibri"/>
              </a:rPr>
              <a:t>Project plan owns scope and schedule — procurement plan owns commercial strategy</a:t>
            </a:r>
          </a:p>
        </p:txBody>
      </p:sp>
      <p:sp>
        <p:nvSpPr>
          <p:cNvPr id="6" name="TextBox 5"/>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5</a:t>
            </a:r>
          </a:p>
        </p:txBody>
      </p:sp>
      <p:sp>
        <p:nvSpPr>
          <p:cNvPr id="7" name="TextBox 6"/>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8" name="TextBox 7"/>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Three phases of a procurement plan</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2.5-5  |  L01</a:t>
            </a:r>
          </a:p>
        </p:txBody>
      </p:sp>
      <p:sp>
        <p:nvSpPr>
          <p:cNvPr id="4" name="TextBox 3"/>
          <p:cNvSpPr txBox="1"/>
          <p:nvPr/>
        </p:nvSpPr>
        <p:spPr>
          <a:xfrm>
            <a:off x="640080" y="1280160"/>
            <a:ext cx="10881360" cy="1828800"/>
          </a:xfrm>
          <a:prstGeom prst="rect">
            <a:avLst/>
          </a:prstGeom>
          <a:noFill/>
        </p:spPr>
        <p:txBody>
          <a:bodyPr wrap="square">
            <a:spAutoFit/>
          </a:bodyPr>
          <a:lstStyle/>
          <a:p>
            <a:pPr algn="l">
              <a:lnSpc>
                <a:spcPts val="2700"/>
              </a:lnSpc>
              <a:defRPr sz="1800" b="0">
                <a:solidFill>
                  <a:srgbClr val="FFFFFF"/>
                </a:solidFill>
                <a:latin typeface="Calibri"/>
              </a:defRPr>
            </a:pPr>
            <a:r>
              <a:t>Before we explore all eight components, here's how they organize.</a:t>
            </a:r>
          </a:p>
        </p:txBody>
      </p:sp>
      <p:sp>
        <p:nvSpPr>
          <p:cNvPr id="5" name="TextBox 4"/>
          <p:cNvSpPr txBox="1"/>
          <p:nvPr/>
        </p:nvSpPr>
        <p:spPr>
          <a:xfrm>
            <a:off x="640080" y="2743200"/>
            <a:ext cx="10881360" cy="3200400"/>
          </a:xfrm>
          <a:prstGeom prst="rect">
            <a:avLst/>
          </a:prstGeom>
          <a:noFill/>
        </p:spPr>
        <p:txBody>
          <a:bodyPr wrap="square">
            <a:spAutoFit/>
          </a:bodyPr>
          <a:lstStyle/>
          <a:p>
            <a:pPr>
              <a:lnSpc>
                <a:spcPts val="2400"/>
              </a:lnSpc>
              <a:spcAft>
                <a:spcPts val="1000"/>
              </a:spcAft>
            </a:pPr>
            <a:r>
              <a:rPr sz="1200">
                <a:solidFill>
                  <a:srgbClr val="7AB648"/>
                </a:solidFill>
                <a:latin typeface="Calibri"/>
              </a:rPr>
              <a:t>●  </a:t>
            </a:r>
            <a:r>
              <a:rPr sz="1500">
                <a:solidFill>
                  <a:srgbClr val="FFFFFF"/>
                </a:solidFill>
                <a:latin typeface="Calibri"/>
              </a:rPr>
              <a:t>Define — what to buy (objectives, scope, method)</a:t>
            </a:r>
          </a:p>
          <a:p>
            <a:pPr>
              <a:lnSpc>
                <a:spcPts val="2400"/>
              </a:lnSpc>
              <a:spcAft>
                <a:spcPts val="1000"/>
              </a:spcAft>
            </a:pPr>
            <a:r>
              <a:rPr sz="1200">
                <a:solidFill>
                  <a:srgbClr val="7AB648"/>
                </a:solidFill>
                <a:latin typeface="Calibri"/>
              </a:rPr>
              <a:t>●  </a:t>
            </a:r>
            <a:r>
              <a:rPr sz="1500">
                <a:solidFill>
                  <a:srgbClr val="FFFFFF"/>
                </a:solidFill>
                <a:latin typeface="Calibri"/>
              </a:rPr>
              <a:t>Execute — how to buy (contract type, evaluation, risk)</a:t>
            </a:r>
          </a:p>
          <a:p>
            <a:pPr>
              <a:lnSpc>
                <a:spcPts val="2400"/>
              </a:lnSpc>
              <a:spcAft>
                <a:spcPts val="1000"/>
              </a:spcAft>
            </a:pPr>
            <a:r>
              <a:rPr sz="1200">
                <a:solidFill>
                  <a:srgbClr val="7AB648"/>
                </a:solidFill>
                <a:latin typeface="Calibri"/>
              </a:rPr>
              <a:t>●  </a:t>
            </a:r>
            <a:r>
              <a:rPr sz="1500">
                <a:solidFill>
                  <a:srgbClr val="FFFFFF"/>
                </a:solidFill>
                <a:latin typeface="Calibri"/>
              </a:rPr>
              <a:t>Govern — who decides (schedule, governance, approvals)</a:t>
            </a:r>
          </a:p>
        </p:txBody>
      </p:sp>
      <p:sp>
        <p:nvSpPr>
          <p:cNvPr id="6" name="TextBox 5"/>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6</a:t>
            </a:r>
          </a:p>
        </p:txBody>
      </p:sp>
      <p:sp>
        <p:nvSpPr>
          <p:cNvPr id="7" name="TextBox 6"/>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8" name="TextBox 7"/>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  |  L12</a:t>
            </a:r>
          </a:p>
        </p:txBody>
      </p:sp>
      <p:sp>
        <p:nvSpPr>
          <p:cNvPr id="4" name="TextBox 3"/>
          <p:cNvSpPr txBox="1"/>
          <p:nvPr/>
        </p:nvSpPr>
        <p:spPr>
          <a:xfrm>
            <a:off x="640080" y="914400"/>
            <a:ext cx="9144000" cy="279400"/>
          </a:xfrm>
          <a:prstGeom prst="rect">
            <a:avLst/>
          </a:prstGeom>
          <a:noFill/>
        </p:spPr>
        <p:txBody>
          <a:bodyPr wrap="square">
            <a:spAutoFit/>
          </a:bodyPr>
          <a:lstStyle/>
          <a:p>
            <a:pPr>
              <a:defRPr sz="1300" i="1">
                <a:solidFill>
                  <a:srgbClr val="AAAAAA"/>
                </a:solidFill>
                <a:latin typeface="Calibri"/>
              </a:defRPr>
            </a:pPr>
            <a:r>
              <a:t>Click each component to learn more. Visit all eight to continue.</a:t>
            </a:r>
          </a:p>
        </p:txBody>
      </p:sp>
      <p:sp>
        <p:nvSpPr>
          <p:cNvPr id="5" name="Rectangle 4"/>
          <p:cNvSpPr/>
          <p:nvPr/>
        </p:nvSpPr>
        <p:spPr>
          <a:xfrm>
            <a:off x="64008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01</a:t>
            </a:r>
          </a:p>
        </p:txBody>
      </p:sp>
      <p:sp>
        <p:nvSpPr>
          <p:cNvPr id="8" name="TextBox 7"/>
          <p:cNvSpPr txBox="1"/>
          <p:nvPr/>
        </p:nvSpPr>
        <p:spPr>
          <a:xfrm>
            <a:off x="118872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Objectives and criteria</a:t>
            </a:r>
          </a:p>
        </p:txBody>
      </p:sp>
      <p:sp>
        <p:nvSpPr>
          <p:cNvPr id="9" name="Rectangle 8"/>
          <p:cNvSpPr/>
          <p:nvPr/>
        </p:nvSpPr>
        <p:spPr>
          <a:xfrm>
            <a:off x="352044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4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02</a:t>
            </a:r>
          </a:p>
        </p:txBody>
      </p:sp>
      <p:sp>
        <p:nvSpPr>
          <p:cNvPr id="12" name="TextBox 11"/>
          <p:cNvSpPr txBox="1"/>
          <p:nvPr/>
        </p:nvSpPr>
        <p:spPr>
          <a:xfrm>
            <a:off x="406908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Scope and packaging</a:t>
            </a:r>
          </a:p>
        </p:txBody>
      </p:sp>
      <p:sp>
        <p:nvSpPr>
          <p:cNvPr id="13" name="Rectangle 12"/>
          <p:cNvSpPr/>
          <p:nvPr/>
        </p:nvSpPr>
        <p:spPr>
          <a:xfrm>
            <a:off x="640080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03</a:t>
            </a:r>
          </a:p>
        </p:txBody>
      </p:sp>
      <p:sp>
        <p:nvSpPr>
          <p:cNvPr id="16" name="TextBox 15"/>
          <p:cNvSpPr txBox="1"/>
          <p:nvPr/>
        </p:nvSpPr>
        <p:spPr>
          <a:xfrm>
            <a:off x="694944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Procurement method</a:t>
            </a:r>
          </a:p>
        </p:txBody>
      </p:sp>
      <p:sp>
        <p:nvSpPr>
          <p:cNvPr id="17" name="Rectangle 16"/>
          <p:cNvSpPr/>
          <p:nvPr/>
        </p:nvSpPr>
        <p:spPr>
          <a:xfrm>
            <a:off x="928116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8116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04</a:t>
            </a:r>
          </a:p>
        </p:txBody>
      </p:sp>
      <p:sp>
        <p:nvSpPr>
          <p:cNvPr id="20" name="TextBox 19"/>
          <p:cNvSpPr txBox="1"/>
          <p:nvPr/>
        </p:nvSpPr>
        <p:spPr>
          <a:xfrm>
            <a:off x="982980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Contract type</a:t>
            </a:r>
          </a:p>
        </p:txBody>
      </p:sp>
      <p:sp>
        <p:nvSpPr>
          <p:cNvPr id="21" name="Rectangle 20"/>
          <p:cNvSpPr/>
          <p:nvPr/>
        </p:nvSpPr>
        <p:spPr>
          <a:xfrm>
            <a:off x="64008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05</a:t>
            </a:r>
          </a:p>
        </p:txBody>
      </p:sp>
      <p:sp>
        <p:nvSpPr>
          <p:cNvPr id="24" name="TextBox 23"/>
          <p:cNvSpPr txBox="1"/>
          <p:nvPr/>
        </p:nvSpPr>
        <p:spPr>
          <a:xfrm>
            <a:off x="118872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Evaluation approach</a:t>
            </a:r>
          </a:p>
        </p:txBody>
      </p:sp>
      <p:sp>
        <p:nvSpPr>
          <p:cNvPr id="25" name="Rectangle 24"/>
          <p:cNvSpPr/>
          <p:nvPr/>
        </p:nvSpPr>
        <p:spPr>
          <a:xfrm>
            <a:off x="352044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2044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4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06</a:t>
            </a:r>
          </a:p>
        </p:txBody>
      </p:sp>
      <p:sp>
        <p:nvSpPr>
          <p:cNvPr id="28" name="TextBox 27"/>
          <p:cNvSpPr txBox="1"/>
          <p:nvPr/>
        </p:nvSpPr>
        <p:spPr>
          <a:xfrm>
            <a:off x="406908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Risk and contingency</a:t>
            </a:r>
          </a:p>
        </p:txBody>
      </p:sp>
      <p:sp>
        <p:nvSpPr>
          <p:cNvPr id="29" name="Rectangle 28"/>
          <p:cNvSpPr/>
          <p:nvPr/>
        </p:nvSpPr>
        <p:spPr>
          <a:xfrm>
            <a:off x="640080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07</a:t>
            </a:r>
          </a:p>
        </p:txBody>
      </p:sp>
      <p:sp>
        <p:nvSpPr>
          <p:cNvPr id="32" name="TextBox 31"/>
          <p:cNvSpPr txBox="1"/>
          <p:nvPr/>
        </p:nvSpPr>
        <p:spPr>
          <a:xfrm>
            <a:off x="694944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Schedule and milestones</a:t>
            </a:r>
          </a:p>
        </p:txBody>
      </p:sp>
      <p:sp>
        <p:nvSpPr>
          <p:cNvPr id="33" name="Rectangle 32"/>
          <p:cNvSpPr/>
          <p:nvPr/>
        </p:nvSpPr>
        <p:spPr>
          <a:xfrm>
            <a:off x="928116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28116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8116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08</a:t>
            </a:r>
          </a:p>
        </p:txBody>
      </p:sp>
      <p:sp>
        <p:nvSpPr>
          <p:cNvPr id="36" name="TextBox 35"/>
          <p:cNvSpPr txBox="1"/>
          <p:nvPr/>
        </p:nvSpPr>
        <p:spPr>
          <a:xfrm>
            <a:off x="982980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Governance and approvals</a:t>
            </a:r>
          </a:p>
        </p:txBody>
      </p:sp>
      <p:sp>
        <p:nvSpPr>
          <p:cNvPr id="37" name="TextBox 36"/>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7</a:t>
            </a:r>
          </a:p>
        </p:txBody>
      </p:sp>
      <p:sp>
        <p:nvSpPr>
          <p:cNvPr id="38" name="TextBox 37"/>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39" name="TextBox 38"/>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2.5-6-01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01</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Objectives and criteria</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Tie every criterion back to a sponsor-owned success measure.</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Clear measurable targets aligned to sponsor expectations</a:t>
            </a:r>
          </a:p>
          <a:p>
            <a:pPr>
              <a:lnSpc>
                <a:spcPts val="2400"/>
              </a:lnSpc>
              <a:spcAft>
                <a:spcPts val="1000"/>
              </a:spcAft>
            </a:pPr>
            <a:r>
              <a:rPr sz="1400">
                <a:solidFill>
                  <a:srgbClr val="1A9AFA"/>
                </a:solidFill>
                <a:latin typeface="Calibri"/>
              </a:rPr>
              <a:t>✓  </a:t>
            </a:r>
            <a:r>
              <a:rPr sz="1500">
                <a:solidFill>
                  <a:srgbClr val="2C3E50"/>
                </a:solidFill>
                <a:latin typeface="Calibri"/>
              </a:rPr>
              <a:t>Evaluation criteria weighted by strategic priority</a:t>
            </a:r>
          </a:p>
          <a:p>
            <a:pPr>
              <a:lnSpc>
                <a:spcPts val="2400"/>
              </a:lnSpc>
              <a:spcAft>
                <a:spcPts val="1000"/>
              </a:spcAft>
            </a:pPr>
            <a:r>
              <a:rPr sz="1400">
                <a:solidFill>
                  <a:srgbClr val="1A9AFA"/>
                </a:solidFill>
                <a:latin typeface="Calibri"/>
              </a:rPr>
              <a:t>✓  </a:t>
            </a:r>
            <a:r>
              <a:rPr sz="1500">
                <a:solidFill>
                  <a:srgbClr val="2C3E50"/>
                </a:solidFill>
                <a:latin typeface="Calibri"/>
              </a:rPr>
              <a:t>Acceptance thresholds agreed with the steering group</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8</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2.5-6-02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02</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Scope and packaging</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Packaging is your first risk allocation decision — get it right before vendors are involved.</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Decide single-package vs multi-package procurement</a:t>
            </a:r>
          </a:p>
          <a:p>
            <a:pPr>
              <a:lnSpc>
                <a:spcPts val="2400"/>
              </a:lnSpc>
              <a:spcAft>
                <a:spcPts val="1000"/>
              </a:spcAft>
            </a:pPr>
            <a:r>
              <a:rPr sz="1400">
                <a:solidFill>
                  <a:srgbClr val="1A9AFA"/>
                </a:solidFill>
                <a:latin typeface="Calibri"/>
              </a:rPr>
              <a:t>✓  </a:t>
            </a:r>
            <a:r>
              <a:rPr sz="1500">
                <a:solidFill>
                  <a:srgbClr val="2C3E50"/>
                </a:solidFill>
                <a:latin typeface="Calibri"/>
              </a:rPr>
              <a:t>Balance integration risk against vendor leverage</a:t>
            </a:r>
          </a:p>
          <a:p>
            <a:pPr>
              <a:lnSpc>
                <a:spcPts val="2400"/>
              </a:lnSpc>
              <a:spcAft>
                <a:spcPts val="1000"/>
              </a:spcAft>
            </a:pPr>
            <a:r>
              <a:rPr sz="1400">
                <a:solidFill>
                  <a:srgbClr val="1A9AFA"/>
                </a:solidFill>
                <a:latin typeface="Calibri"/>
              </a:rPr>
              <a:t>✓  </a:t>
            </a:r>
            <a:r>
              <a:rPr sz="1500">
                <a:solidFill>
                  <a:srgbClr val="2C3E50"/>
                </a:solidFill>
                <a:latin typeface="Calibri"/>
              </a:rPr>
              <a:t>Map each package to a delivery milestone</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9</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2.5-6-03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03</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Procurement method</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Match the method to the market — don't default to open tender for every package.</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Open tender: maximum competition, higher admin effort</a:t>
            </a:r>
          </a:p>
          <a:p>
            <a:pPr>
              <a:lnSpc>
                <a:spcPts val="2400"/>
              </a:lnSpc>
              <a:spcAft>
                <a:spcPts val="1000"/>
              </a:spcAft>
            </a:pPr>
            <a:r>
              <a:rPr sz="1400">
                <a:solidFill>
                  <a:srgbClr val="1A9AFA"/>
                </a:solidFill>
                <a:latin typeface="Calibri"/>
              </a:rPr>
              <a:t>✓  </a:t>
            </a:r>
            <a:r>
              <a:rPr sz="1500">
                <a:solidFill>
                  <a:srgbClr val="2C3E50"/>
                </a:solidFill>
                <a:latin typeface="Calibri"/>
              </a:rPr>
              <a:t>Restricted tender: pre-qualified shortlist, faster</a:t>
            </a:r>
          </a:p>
          <a:p>
            <a:pPr>
              <a:lnSpc>
                <a:spcPts val="2400"/>
              </a:lnSpc>
              <a:spcAft>
                <a:spcPts val="1000"/>
              </a:spcAft>
            </a:pPr>
            <a:r>
              <a:rPr sz="1400">
                <a:solidFill>
                  <a:srgbClr val="1A9AFA"/>
                </a:solidFill>
                <a:latin typeface="Calibri"/>
              </a:rPr>
              <a:t>✓  </a:t>
            </a:r>
            <a:r>
              <a:rPr sz="1500">
                <a:solidFill>
                  <a:srgbClr val="2C3E50"/>
                </a:solidFill>
                <a:latin typeface="Calibri"/>
              </a:rPr>
              <a:t>Direct appointment: speed, but must justify sole-source</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10</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2.5-6-04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04</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Contract type</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Contract type is the single biggest risk-allocation lever in the plan.</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Fixed-price: risk sits with the vendor, less flexibility for changes</a:t>
            </a:r>
          </a:p>
          <a:p>
            <a:pPr>
              <a:lnSpc>
                <a:spcPts val="2400"/>
              </a:lnSpc>
              <a:spcAft>
                <a:spcPts val="1000"/>
              </a:spcAft>
            </a:pPr>
            <a:r>
              <a:rPr sz="1400">
                <a:solidFill>
                  <a:srgbClr val="1A9AFA"/>
                </a:solidFill>
                <a:latin typeface="Calibri"/>
              </a:rPr>
              <a:t>✓  </a:t>
            </a:r>
            <a:r>
              <a:rPr sz="1500">
                <a:solidFill>
                  <a:srgbClr val="2C3E50"/>
                </a:solidFill>
                <a:latin typeface="Calibri"/>
              </a:rPr>
              <a:t>Time-and-materials: flexibility for the buyer, risk on cost overruns</a:t>
            </a:r>
          </a:p>
          <a:p>
            <a:pPr>
              <a:lnSpc>
                <a:spcPts val="2400"/>
              </a:lnSpc>
              <a:spcAft>
                <a:spcPts val="1000"/>
              </a:spcAft>
            </a:pPr>
            <a:r>
              <a:rPr sz="1400">
                <a:solidFill>
                  <a:srgbClr val="1A9AFA"/>
                </a:solidFill>
                <a:latin typeface="Calibri"/>
              </a:rPr>
              <a:t>✓  </a:t>
            </a:r>
            <a:r>
              <a:rPr sz="1500">
                <a:solidFill>
                  <a:srgbClr val="2C3E50"/>
                </a:solidFill>
                <a:latin typeface="Calibri"/>
              </a:rPr>
              <a:t>Hybrid (capped T&amp;M): shared risk, caps protect the buyer</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11</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2.5-6-05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05</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Evaluation approach</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Weight criteria before you see proposals — not after.</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Technical merit: does the solution meet requirements?</a:t>
            </a:r>
          </a:p>
          <a:p>
            <a:pPr>
              <a:lnSpc>
                <a:spcPts val="2400"/>
              </a:lnSpc>
              <a:spcAft>
                <a:spcPts val="1000"/>
              </a:spcAft>
            </a:pPr>
            <a:r>
              <a:rPr sz="1400">
                <a:solidFill>
                  <a:srgbClr val="1A9AFA"/>
                </a:solidFill>
                <a:latin typeface="Calibri"/>
              </a:rPr>
              <a:t>✓  </a:t>
            </a:r>
            <a:r>
              <a:rPr sz="1500">
                <a:solidFill>
                  <a:srgbClr val="2C3E50"/>
                </a:solidFill>
                <a:latin typeface="Calibri"/>
              </a:rPr>
              <a:t>Price competitiveness: is the cost reasonable for the market?</a:t>
            </a:r>
          </a:p>
          <a:p>
            <a:pPr>
              <a:lnSpc>
                <a:spcPts val="2400"/>
              </a:lnSpc>
              <a:spcAft>
                <a:spcPts val="1000"/>
              </a:spcAft>
            </a:pPr>
            <a:r>
              <a:rPr sz="1400">
                <a:solidFill>
                  <a:srgbClr val="1A9AFA"/>
                </a:solidFill>
                <a:latin typeface="Calibri"/>
              </a:rPr>
              <a:t>✓  </a:t>
            </a:r>
            <a:r>
              <a:rPr sz="1500">
                <a:solidFill>
                  <a:srgbClr val="2C3E50"/>
                </a:solidFill>
                <a:latin typeface="Calibri"/>
              </a:rPr>
              <a:t>Risk profile: what could go wrong with this vendor?</a:t>
            </a:r>
          </a:p>
          <a:p>
            <a:pPr>
              <a:lnSpc>
                <a:spcPts val="2400"/>
              </a:lnSpc>
              <a:spcAft>
                <a:spcPts val="1000"/>
              </a:spcAft>
            </a:pPr>
            <a:r>
              <a:rPr sz="1400">
                <a:solidFill>
                  <a:srgbClr val="1A9AFA"/>
                </a:solidFill>
                <a:latin typeface="Calibri"/>
              </a:rPr>
              <a:t>✓  </a:t>
            </a:r>
            <a:r>
              <a:rPr sz="1500">
                <a:solidFill>
                  <a:srgbClr val="2C3E50"/>
                </a:solidFill>
                <a:latin typeface="Calibri"/>
              </a:rPr>
              <a:t>Past performance: has this vendor delivered similar work?</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12</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2.5-6-06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06</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Risk and contingency</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Risk allocation happens in the contract — if it's not written down, you own it.</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Identify procurement-specific risks (vendor insolvency, supply chain disruption)</a:t>
            </a:r>
          </a:p>
          <a:p>
            <a:pPr>
              <a:lnSpc>
                <a:spcPts val="2400"/>
              </a:lnSpc>
              <a:spcAft>
                <a:spcPts val="1000"/>
              </a:spcAft>
            </a:pPr>
            <a:r>
              <a:rPr sz="1400">
                <a:solidFill>
                  <a:srgbClr val="1A9AFA"/>
                </a:solidFill>
                <a:latin typeface="Calibri"/>
              </a:rPr>
              <a:t>✓  </a:t>
            </a:r>
            <a:r>
              <a:rPr sz="1500">
                <a:solidFill>
                  <a:srgbClr val="2C3E50"/>
                </a:solidFill>
                <a:latin typeface="Calibri"/>
              </a:rPr>
              <a:t>Assign risk to the party best positioned to manage it</a:t>
            </a:r>
          </a:p>
          <a:p>
            <a:pPr>
              <a:lnSpc>
                <a:spcPts val="2400"/>
              </a:lnSpc>
              <a:spcAft>
                <a:spcPts val="1000"/>
              </a:spcAft>
            </a:pPr>
            <a:r>
              <a:rPr sz="1400">
                <a:solidFill>
                  <a:srgbClr val="1A9AFA"/>
                </a:solidFill>
                <a:latin typeface="Calibri"/>
              </a:rPr>
              <a:t>✓  </a:t>
            </a:r>
            <a:r>
              <a:rPr sz="1500">
                <a:solidFill>
                  <a:srgbClr val="2C3E50"/>
                </a:solidFill>
                <a:latin typeface="Calibri"/>
              </a:rPr>
              <a:t>Build contingency into timeline and budget — not just cost</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13</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2.5-6-07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07</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Schedule and milestones</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Procurement delay is the #1 cause of project schedule slip in complex programs.</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Map procurement timeline to project critical path</a:t>
            </a:r>
          </a:p>
          <a:p>
            <a:pPr>
              <a:lnSpc>
                <a:spcPts val="2400"/>
              </a:lnSpc>
              <a:spcAft>
                <a:spcPts val="1000"/>
              </a:spcAft>
            </a:pPr>
            <a:r>
              <a:rPr sz="1400">
                <a:solidFill>
                  <a:srgbClr val="1A9AFA"/>
                </a:solidFill>
                <a:latin typeface="Calibri"/>
              </a:rPr>
              <a:t>✓  </a:t>
            </a:r>
            <a:r>
              <a:rPr sz="1500">
                <a:solidFill>
                  <a:srgbClr val="2C3E50"/>
                </a:solidFill>
                <a:latin typeface="Calibri"/>
              </a:rPr>
              <a:t>Build in lead times for tender, evaluation, and mobilization</a:t>
            </a:r>
          </a:p>
          <a:p>
            <a:pPr>
              <a:lnSpc>
                <a:spcPts val="2400"/>
              </a:lnSpc>
              <a:spcAft>
                <a:spcPts val="1000"/>
              </a:spcAft>
            </a:pPr>
            <a:r>
              <a:rPr sz="1400">
                <a:solidFill>
                  <a:srgbClr val="1A9AFA"/>
                </a:solidFill>
                <a:latin typeface="Calibri"/>
              </a:rPr>
              <a:t>✓  </a:t>
            </a:r>
            <a:r>
              <a:rPr sz="1500">
                <a:solidFill>
                  <a:srgbClr val="2C3E50"/>
                </a:solidFill>
                <a:latin typeface="Calibri"/>
              </a:rPr>
              <a:t>Identify dependencies between packages</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14</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2.5-6-08  |  Pop-up on anchor</a:t>
            </a:r>
          </a:p>
        </p:txBody>
      </p:sp>
      <p:sp>
        <p:nvSpPr>
          <p:cNvPr id="4" name="Rectangle 3"/>
          <p:cNvSpPr/>
          <p:nvPr/>
        </p:nvSpPr>
        <p:spPr>
          <a:xfrm>
            <a:off x="365760" y="1051560"/>
            <a:ext cx="114300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1155680" cy="4572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43000"/>
            <a:ext cx="457200" cy="457200"/>
          </a:xfrm>
          <a:prstGeom prst="rect">
            <a:avLst/>
          </a:prstGeom>
          <a:noFill/>
        </p:spPr>
        <p:txBody>
          <a:bodyPr wrap="square">
            <a:spAutoFit/>
          </a:bodyPr>
          <a:lstStyle/>
          <a:p>
            <a:pPr algn="ctr">
              <a:lnSpc>
                <a:spcPts val="2250"/>
              </a:lnSpc>
              <a:defRPr sz="1500" b="1">
                <a:solidFill>
                  <a:srgbClr val="FFFFFF"/>
                </a:solidFill>
                <a:latin typeface="Calibri"/>
              </a:defRPr>
            </a:pPr>
            <a:r>
              <a:t>08</a:t>
            </a:r>
          </a:p>
        </p:txBody>
      </p:sp>
      <p:sp>
        <p:nvSpPr>
          <p:cNvPr id="8" name="TextBox 7"/>
          <p:cNvSpPr txBox="1"/>
          <p:nvPr/>
        </p:nvSpPr>
        <p:spPr>
          <a:xfrm>
            <a:off x="1097280" y="1143000"/>
            <a:ext cx="9784080" cy="457200"/>
          </a:xfrm>
          <a:prstGeom prst="rect">
            <a:avLst/>
          </a:prstGeom>
          <a:noFill/>
        </p:spPr>
        <p:txBody>
          <a:bodyPr wrap="square">
            <a:spAutoFit/>
          </a:bodyPr>
          <a:lstStyle/>
          <a:p>
            <a:pPr algn="l">
              <a:lnSpc>
                <a:spcPts val="2100"/>
              </a:lnSpc>
              <a:defRPr sz="1400" b="1">
                <a:solidFill>
                  <a:srgbClr val="FFFFFF"/>
                </a:solidFill>
                <a:latin typeface="Calibri"/>
              </a:defRPr>
            </a:pPr>
            <a:r>
              <a:t>Governance and approvals</a:t>
            </a:r>
          </a:p>
        </p:txBody>
      </p:sp>
      <p:sp>
        <p:nvSpPr>
          <p:cNvPr id="9" name="Rectangle 8"/>
          <p:cNvSpPr/>
          <p:nvPr/>
        </p:nvSpPr>
        <p:spPr>
          <a:xfrm>
            <a:off x="11201400" y="1143000"/>
            <a:ext cx="457200" cy="4572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01400" y="1143000"/>
            <a:ext cx="457200" cy="457200"/>
          </a:xfrm>
          <a:prstGeom prst="rect">
            <a:avLst/>
          </a:prstGeom>
          <a:noFill/>
        </p:spPr>
        <p:txBody>
          <a:bodyPr wrap="square">
            <a:spAutoFit/>
          </a:bodyPr>
          <a:lstStyle/>
          <a:p>
            <a:pPr algn="ctr">
              <a:lnSpc>
                <a:spcPts val="2400"/>
              </a:lnSpc>
              <a:defRPr sz="1600" b="1">
                <a:solidFill>
                  <a:srgbClr val="FFFFFF"/>
                </a:solidFill>
                <a:latin typeface="Calibri"/>
              </a:defRPr>
            </a:pPr>
            <a:r>
              <a:t>✕</a:t>
            </a:r>
          </a:p>
        </p:txBody>
      </p:sp>
      <p:sp>
        <p:nvSpPr>
          <p:cNvPr id="11" name="TextBox 10"/>
          <p:cNvSpPr txBox="1"/>
          <p:nvPr/>
        </p:nvSpPr>
        <p:spPr>
          <a:xfrm>
            <a:off x="640080" y="1783080"/>
            <a:ext cx="10515600" cy="1097280"/>
          </a:xfrm>
          <a:prstGeom prst="rect">
            <a:avLst/>
          </a:prstGeom>
          <a:noFill/>
        </p:spPr>
        <p:txBody>
          <a:bodyPr wrap="square">
            <a:spAutoFit/>
          </a:bodyPr>
          <a:lstStyle/>
          <a:p>
            <a:pPr algn="l">
              <a:lnSpc>
                <a:spcPts val="2400"/>
              </a:lnSpc>
              <a:defRPr sz="1600" b="0">
                <a:solidFill>
                  <a:srgbClr val="2C3E50"/>
                </a:solidFill>
                <a:latin typeface="Calibri"/>
              </a:defRPr>
            </a:pPr>
            <a:r>
              <a:t>Clear governance prevents the 'who approved this?' conversation six months in.</a:t>
            </a:r>
          </a:p>
        </p:txBody>
      </p:sp>
      <p:sp>
        <p:nvSpPr>
          <p:cNvPr id="12" name="TextBox 11"/>
          <p:cNvSpPr txBox="1"/>
          <p:nvPr/>
        </p:nvSpPr>
        <p:spPr>
          <a:xfrm>
            <a:off x="640080" y="2697480"/>
            <a:ext cx="10515600" cy="3200400"/>
          </a:xfrm>
          <a:prstGeom prst="rect">
            <a:avLst/>
          </a:prstGeom>
          <a:noFill/>
        </p:spPr>
        <p:txBody>
          <a:bodyPr wrap="square">
            <a:spAutoFit/>
          </a:bodyPr>
          <a:lstStyle/>
          <a:p>
            <a:pPr>
              <a:lnSpc>
                <a:spcPts val="2400"/>
              </a:lnSpc>
              <a:spcAft>
                <a:spcPts val="1000"/>
              </a:spcAft>
            </a:pPr>
            <a:r>
              <a:rPr sz="1400">
                <a:solidFill>
                  <a:srgbClr val="1A9AFA"/>
                </a:solidFill>
                <a:latin typeface="Calibri"/>
              </a:rPr>
              <a:t>✓  </a:t>
            </a:r>
            <a:r>
              <a:rPr sz="1500">
                <a:solidFill>
                  <a:srgbClr val="2C3E50"/>
                </a:solidFill>
                <a:latin typeface="Calibri"/>
              </a:rPr>
              <a:t>Define approval authority levels (who signs what value)</a:t>
            </a:r>
          </a:p>
          <a:p>
            <a:pPr>
              <a:lnSpc>
                <a:spcPts val="2400"/>
              </a:lnSpc>
              <a:spcAft>
                <a:spcPts val="1000"/>
              </a:spcAft>
            </a:pPr>
            <a:r>
              <a:rPr sz="1400">
                <a:solidFill>
                  <a:srgbClr val="1A9AFA"/>
                </a:solidFill>
                <a:latin typeface="Calibri"/>
              </a:rPr>
              <a:t>✓  </a:t>
            </a:r>
            <a:r>
              <a:rPr sz="1500">
                <a:solidFill>
                  <a:srgbClr val="2C3E50"/>
                </a:solidFill>
                <a:latin typeface="Calibri"/>
              </a:rPr>
              <a:t>Establish the evaluation panel composition</a:t>
            </a:r>
          </a:p>
          <a:p>
            <a:pPr>
              <a:lnSpc>
                <a:spcPts val="2400"/>
              </a:lnSpc>
              <a:spcAft>
                <a:spcPts val="1000"/>
              </a:spcAft>
            </a:pPr>
            <a:r>
              <a:rPr sz="1400">
                <a:solidFill>
                  <a:srgbClr val="1A9AFA"/>
                </a:solidFill>
                <a:latin typeface="Calibri"/>
              </a:rPr>
              <a:t>✓  </a:t>
            </a:r>
            <a:r>
              <a:rPr sz="1500">
                <a:solidFill>
                  <a:srgbClr val="2C3E50"/>
                </a:solidFill>
                <a:latin typeface="Calibri"/>
              </a:rPr>
              <a:t>Set escalation path for disputes and variations</a:t>
            </a:r>
          </a:p>
        </p:txBody>
      </p:sp>
      <p:sp>
        <p:nvSpPr>
          <p:cNvPr id="13" name="TextBox 12"/>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15</a:t>
            </a:r>
          </a:p>
        </p:txBody>
      </p:sp>
      <p:sp>
        <p:nvSpPr>
          <p:cNvPr id="14" name="TextBox 13"/>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5" name="TextBox 14"/>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Explore each component</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2.5-6-v  |  L12 — Visited</a:t>
            </a:r>
          </a:p>
        </p:txBody>
      </p:sp>
      <p:sp>
        <p:nvSpPr>
          <p:cNvPr id="4" name="Rectangle 3"/>
          <p:cNvSpPr/>
          <p:nvPr/>
        </p:nvSpPr>
        <p:spPr>
          <a:xfrm>
            <a:off x="64008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01</a:t>
            </a:r>
          </a:p>
        </p:txBody>
      </p:sp>
      <p:sp>
        <p:nvSpPr>
          <p:cNvPr id="7" name="TextBox 6"/>
          <p:cNvSpPr txBox="1"/>
          <p:nvPr/>
        </p:nvSpPr>
        <p:spPr>
          <a:xfrm>
            <a:off x="118872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Objectives and criteria</a:t>
            </a:r>
          </a:p>
        </p:txBody>
      </p:sp>
      <p:sp>
        <p:nvSpPr>
          <p:cNvPr id="8" name="TextBox 7"/>
          <p:cNvSpPr txBox="1"/>
          <p:nvPr/>
        </p:nvSpPr>
        <p:spPr>
          <a:xfrm>
            <a:off x="2834640" y="146304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9" name="Rectangle 8"/>
          <p:cNvSpPr/>
          <p:nvPr/>
        </p:nvSpPr>
        <p:spPr>
          <a:xfrm>
            <a:off x="352044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4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02</a:t>
            </a:r>
          </a:p>
        </p:txBody>
      </p:sp>
      <p:sp>
        <p:nvSpPr>
          <p:cNvPr id="12" name="TextBox 11"/>
          <p:cNvSpPr txBox="1"/>
          <p:nvPr/>
        </p:nvSpPr>
        <p:spPr>
          <a:xfrm>
            <a:off x="406908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Scope and packaging</a:t>
            </a:r>
          </a:p>
        </p:txBody>
      </p:sp>
      <p:sp>
        <p:nvSpPr>
          <p:cNvPr id="13" name="TextBox 12"/>
          <p:cNvSpPr txBox="1"/>
          <p:nvPr/>
        </p:nvSpPr>
        <p:spPr>
          <a:xfrm>
            <a:off x="5715000" y="146304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14" name="Rectangle 13"/>
          <p:cNvSpPr/>
          <p:nvPr/>
        </p:nvSpPr>
        <p:spPr>
          <a:xfrm>
            <a:off x="640080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03</a:t>
            </a:r>
          </a:p>
        </p:txBody>
      </p:sp>
      <p:sp>
        <p:nvSpPr>
          <p:cNvPr id="17" name="TextBox 16"/>
          <p:cNvSpPr txBox="1"/>
          <p:nvPr/>
        </p:nvSpPr>
        <p:spPr>
          <a:xfrm>
            <a:off x="694944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Procurement method</a:t>
            </a:r>
          </a:p>
        </p:txBody>
      </p:sp>
      <p:sp>
        <p:nvSpPr>
          <p:cNvPr id="18" name="TextBox 17"/>
          <p:cNvSpPr txBox="1"/>
          <p:nvPr/>
        </p:nvSpPr>
        <p:spPr>
          <a:xfrm>
            <a:off x="8595360" y="146304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19" name="Rectangle 18"/>
          <p:cNvSpPr/>
          <p:nvPr/>
        </p:nvSpPr>
        <p:spPr>
          <a:xfrm>
            <a:off x="9281160" y="146304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81160" y="146304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146304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04</a:t>
            </a:r>
          </a:p>
        </p:txBody>
      </p:sp>
      <p:sp>
        <p:nvSpPr>
          <p:cNvPr id="22" name="TextBox 21"/>
          <p:cNvSpPr txBox="1"/>
          <p:nvPr/>
        </p:nvSpPr>
        <p:spPr>
          <a:xfrm>
            <a:off x="9829800" y="146304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Contract type</a:t>
            </a:r>
          </a:p>
        </p:txBody>
      </p:sp>
      <p:sp>
        <p:nvSpPr>
          <p:cNvPr id="23" name="TextBox 22"/>
          <p:cNvSpPr txBox="1"/>
          <p:nvPr/>
        </p:nvSpPr>
        <p:spPr>
          <a:xfrm>
            <a:off x="11475720" y="146304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24" name="Rectangle 23"/>
          <p:cNvSpPr/>
          <p:nvPr/>
        </p:nvSpPr>
        <p:spPr>
          <a:xfrm>
            <a:off x="64008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05</a:t>
            </a:r>
          </a:p>
        </p:txBody>
      </p:sp>
      <p:sp>
        <p:nvSpPr>
          <p:cNvPr id="27" name="TextBox 26"/>
          <p:cNvSpPr txBox="1"/>
          <p:nvPr/>
        </p:nvSpPr>
        <p:spPr>
          <a:xfrm>
            <a:off x="118872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Evaluation approach</a:t>
            </a:r>
          </a:p>
        </p:txBody>
      </p:sp>
      <p:sp>
        <p:nvSpPr>
          <p:cNvPr id="28" name="TextBox 27"/>
          <p:cNvSpPr txBox="1"/>
          <p:nvPr/>
        </p:nvSpPr>
        <p:spPr>
          <a:xfrm>
            <a:off x="2834640" y="265176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29" name="Rectangle 28"/>
          <p:cNvSpPr/>
          <p:nvPr/>
        </p:nvSpPr>
        <p:spPr>
          <a:xfrm>
            <a:off x="352044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2044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4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06</a:t>
            </a:r>
          </a:p>
        </p:txBody>
      </p:sp>
      <p:sp>
        <p:nvSpPr>
          <p:cNvPr id="32" name="TextBox 31"/>
          <p:cNvSpPr txBox="1"/>
          <p:nvPr/>
        </p:nvSpPr>
        <p:spPr>
          <a:xfrm>
            <a:off x="406908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Risk and contingency</a:t>
            </a:r>
          </a:p>
        </p:txBody>
      </p:sp>
      <p:sp>
        <p:nvSpPr>
          <p:cNvPr id="33" name="TextBox 32"/>
          <p:cNvSpPr txBox="1"/>
          <p:nvPr/>
        </p:nvSpPr>
        <p:spPr>
          <a:xfrm>
            <a:off x="5715000" y="265176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34" name="Rectangle 33"/>
          <p:cNvSpPr/>
          <p:nvPr/>
        </p:nvSpPr>
        <p:spPr>
          <a:xfrm>
            <a:off x="640080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07</a:t>
            </a:r>
          </a:p>
        </p:txBody>
      </p:sp>
      <p:sp>
        <p:nvSpPr>
          <p:cNvPr id="37" name="TextBox 36"/>
          <p:cNvSpPr txBox="1"/>
          <p:nvPr/>
        </p:nvSpPr>
        <p:spPr>
          <a:xfrm>
            <a:off x="694944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Schedule and milestones</a:t>
            </a:r>
          </a:p>
        </p:txBody>
      </p:sp>
      <p:sp>
        <p:nvSpPr>
          <p:cNvPr id="38" name="TextBox 37"/>
          <p:cNvSpPr txBox="1"/>
          <p:nvPr/>
        </p:nvSpPr>
        <p:spPr>
          <a:xfrm>
            <a:off x="8595360" y="265176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39" name="Rectangle 38"/>
          <p:cNvSpPr/>
          <p:nvPr/>
        </p:nvSpPr>
        <p:spPr>
          <a:xfrm>
            <a:off x="9281160" y="2651760"/>
            <a:ext cx="2560320" cy="914400"/>
          </a:xfrm>
          <a:prstGeom prst="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81160" y="2651760"/>
            <a:ext cx="457200" cy="914400"/>
          </a:xfrm>
          <a:prstGeom prst="rect">
            <a:avLst/>
          </a:prstGeom>
          <a:solidFill>
            <a:srgbClr val="126E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81160" y="2651760"/>
            <a:ext cx="457200" cy="914400"/>
          </a:xfrm>
          <a:prstGeom prst="rect">
            <a:avLst/>
          </a:prstGeom>
          <a:noFill/>
        </p:spPr>
        <p:txBody>
          <a:bodyPr wrap="square">
            <a:spAutoFit/>
          </a:bodyPr>
          <a:lstStyle/>
          <a:p>
            <a:pPr algn="ctr">
              <a:lnSpc>
                <a:spcPts val="2100"/>
              </a:lnSpc>
              <a:defRPr sz="1400" b="1">
                <a:solidFill>
                  <a:srgbClr val="FFFFFF"/>
                </a:solidFill>
                <a:latin typeface="Calibri"/>
              </a:defRPr>
            </a:pPr>
            <a:r>
              <a:t>08</a:t>
            </a:r>
          </a:p>
        </p:txBody>
      </p:sp>
      <p:sp>
        <p:nvSpPr>
          <p:cNvPr id="42" name="TextBox 41"/>
          <p:cNvSpPr txBox="1"/>
          <p:nvPr/>
        </p:nvSpPr>
        <p:spPr>
          <a:xfrm>
            <a:off x="9829800" y="2651760"/>
            <a:ext cx="1920240" cy="914400"/>
          </a:xfrm>
          <a:prstGeom prst="rect">
            <a:avLst/>
          </a:prstGeom>
          <a:noFill/>
        </p:spPr>
        <p:txBody>
          <a:bodyPr wrap="square">
            <a:spAutoFit/>
          </a:bodyPr>
          <a:lstStyle/>
          <a:p>
            <a:pPr algn="l">
              <a:lnSpc>
                <a:spcPts val="1800"/>
              </a:lnSpc>
              <a:defRPr sz="1200" b="1">
                <a:solidFill>
                  <a:srgbClr val="FFFFFF"/>
                </a:solidFill>
                <a:latin typeface="Calibri"/>
              </a:defRPr>
            </a:pPr>
            <a:r>
              <a:t>Governance and approvals</a:t>
            </a:r>
          </a:p>
        </p:txBody>
      </p:sp>
      <p:sp>
        <p:nvSpPr>
          <p:cNvPr id="43" name="TextBox 42"/>
          <p:cNvSpPr txBox="1"/>
          <p:nvPr/>
        </p:nvSpPr>
        <p:spPr>
          <a:xfrm>
            <a:off x="11475720" y="2651760"/>
            <a:ext cx="320040" cy="914400"/>
          </a:xfrm>
          <a:prstGeom prst="rect">
            <a:avLst/>
          </a:prstGeom>
          <a:noFill/>
        </p:spPr>
        <p:txBody>
          <a:bodyPr wrap="square">
            <a:spAutoFit/>
          </a:bodyPr>
          <a:lstStyle/>
          <a:p>
            <a:pPr algn="ctr">
              <a:lnSpc>
                <a:spcPts val="2700"/>
              </a:lnSpc>
              <a:defRPr sz="1800" b="1">
                <a:solidFill>
                  <a:srgbClr val="27AE60"/>
                </a:solidFill>
                <a:latin typeface="Calibri"/>
              </a:defRPr>
            </a:pPr>
            <a:r>
              <a:t>✓</a:t>
            </a:r>
          </a:p>
        </p:txBody>
      </p:sp>
      <p:sp>
        <p:nvSpPr>
          <p:cNvPr id="44" name="TextBox 43"/>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16</a:t>
            </a:r>
          </a:p>
        </p:txBody>
      </p:sp>
      <p:sp>
        <p:nvSpPr>
          <p:cNvPr id="45" name="TextBox 44"/>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46" name="TextBox 45"/>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Knowledge check</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2.5-7a  |  L09</a:t>
            </a:r>
          </a:p>
        </p:txBody>
      </p:sp>
      <p:sp>
        <p:nvSpPr>
          <p:cNvPr id="4" name="TextBox 3"/>
          <p:cNvSpPr txBox="1"/>
          <p:nvPr/>
        </p:nvSpPr>
        <p:spPr>
          <a:xfrm>
            <a:off x="640080" y="1371600"/>
            <a:ext cx="10881360" cy="914400"/>
          </a:xfrm>
          <a:prstGeom prst="rect">
            <a:avLst/>
          </a:prstGeom>
          <a:noFill/>
        </p:spPr>
        <p:txBody>
          <a:bodyPr wrap="square">
            <a:spAutoFit/>
          </a:bodyPr>
          <a:lstStyle/>
          <a:p>
            <a:pPr algn="l">
              <a:lnSpc>
                <a:spcPts val="2700"/>
              </a:lnSpc>
              <a:defRPr sz="1800" b="1">
                <a:solidFill>
                  <a:srgbClr val="FFFFFF"/>
                </a:solidFill>
                <a:latin typeface="Calibri"/>
              </a:defRPr>
            </a:pPr>
            <a:r>
              <a:t>You're managing a construction project with a well-defined scope, a fixed deadline, and an experienced vendor pool. Which contract type best fits this situation?</a:t>
            </a:r>
          </a:p>
        </p:txBody>
      </p:sp>
      <p:sp>
        <p:nvSpPr>
          <p:cNvPr id="5" name="TextBox 4"/>
          <p:cNvSpPr txBox="1"/>
          <p:nvPr/>
        </p:nvSpPr>
        <p:spPr>
          <a:xfrm>
            <a:off x="914400" y="2560320"/>
            <a:ext cx="9144000" cy="381000"/>
          </a:xfrm>
          <a:prstGeom prst="rect">
            <a:avLst/>
          </a:prstGeom>
          <a:noFill/>
        </p:spPr>
        <p:txBody>
          <a:bodyPr wrap="square">
            <a:spAutoFit/>
          </a:bodyPr>
          <a:lstStyle/>
          <a:p>
            <a:r>
              <a:rPr sz="1600">
                <a:solidFill>
                  <a:srgbClr val="1A9AFA"/>
                </a:solidFill>
                <a:latin typeface="Calibri"/>
              </a:rPr>
              <a:t>○  A.  </a:t>
            </a:r>
            <a:r>
              <a:rPr sz="1600">
                <a:solidFill>
                  <a:srgbClr val="FFFFFF"/>
                </a:solidFill>
                <a:latin typeface="Calibri"/>
              </a:rPr>
              <a:t>Time-and-materials — maximum flexibility for scope changes</a:t>
            </a:r>
          </a:p>
        </p:txBody>
      </p:sp>
      <p:sp>
        <p:nvSpPr>
          <p:cNvPr id="6" name="TextBox 5"/>
          <p:cNvSpPr txBox="1"/>
          <p:nvPr/>
        </p:nvSpPr>
        <p:spPr>
          <a:xfrm>
            <a:off x="914400" y="3108960"/>
            <a:ext cx="9144000" cy="381000"/>
          </a:xfrm>
          <a:prstGeom prst="rect">
            <a:avLst/>
          </a:prstGeom>
          <a:noFill/>
        </p:spPr>
        <p:txBody>
          <a:bodyPr wrap="square">
            <a:spAutoFit/>
          </a:bodyPr>
          <a:lstStyle/>
          <a:p>
            <a:r>
              <a:rPr sz="1600">
                <a:solidFill>
                  <a:srgbClr val="1A9AFA"/>
                </a:solidFill>
                <a:latin typeface="Calibri"/>
              </a:rPr>
              <a:t>○  B.  </a:t>
            </a:r>
            <a:r>
              <a:rPr sz="1600">
                <a:solidFill>
                  <a:srgbClr val="FFFFFF"/>
                </a:solidFill>
                <a:latin typeface="Calibri"/>
              </a:rPr>
              <a:t>Fixed-price — risk transferred to vendor, scope is locked</a:t>
            </a:r>
          </a:p>
        </p:txBody>
      </p:sp>
      <p:sp>
        <p:nvSpPr>
          <p:cNvPr id="7" name="TextBox 6"/>
          <p:cNvSpPr txBox="1"/>
          <p:nvPr/>
        </p:nvSpPr>
        <p:spPr>
          <a:xfrm>
            <a:off x="914400" y="3657600"/>
            <a:ext cx="9144000" cy="381000"/>
          </a:xfrm>
          <a:prstGeom prst="rect">
            <a:avLst/>
          </a:prstGeom>
          <a:noFill/>
        </p:spPr>
        <p:txBody>
          <a:bodyPr wrap="square">
            <a:spAutoFit/>
          </a:bodyPr>
          <a:lstStyle/>
          <a:p>
            <a:r>
              <a:rPr sz="1600">
                <a:solidFill>
                  <a:srgbClr val="1A9AFA"/>
                </a:solidFill>
                <a:latin typeface="Calibri"/>
              </a:rPr>
              <a:t>○  C.  </a:t>
            </a:r>
            <a:r>
              <a:rPr sz="1600">
                <a:solidFill>
                  <a:srgbClr val="FFFFFF"/>
                </a:solidFill>
                <a:latin typeface="Calibri"/>
              </a:rPr>
              <a:t>Capped T&amp;M — shared risk with a cost ceiling</a:t>
            </a:r>
          </a:p>
        </p:txBody>
      </p:sp>
      <p:sp>
        <p:nvSpPr>
          <p:cNvPr id="8" name="TextBox 7"/>
          <p:cNvSpPr txBox="1"/>
          <p:nvPr/>
        </p:nvSpPr>
        <p:spPr>
          <a:xfrm>
            <a:off x="914400" y="4206240"/>
            <a:ext cx="9144000" cy="381000"/>
          </a:xfrm>
          <a:prstGeom prst="rect">
            <a:avLst/>
          </a:prstGeom>
          <a:noFill/>
        </p:spPr>
        <p:txBody>
          <a:bodyPr wrap="square">
            <a:spAutoFit/>
          </a:bodyPr>
          <a:lstStyle/>
          <a:p>
            <a:r>
              <a:rPr sz="1600">
                <a:solidFill>
                  <a:srgbClr val="1A9AFA"/>
                </a:solidFill>
                <a:latin typeface="Calibri"/>
              </a:rPr>
              <a:t>○  D.  </a:t>
            </a:r>
            <a:r>
              <a:rPr sz="1600">
                <a:solidFill>
                  <a:srgbClr val="FFFFFF"/>
                </a:solidFill>
                <a:latin typeface="Calibri"/>
              </a:rPr>
              <a:t>Cost-plus — vendor reimbursed for all costs plus a fee</a:t>
            </a:r>
          </a:p>
        </p:txBody>
      </p:sp>
      <p:sp>
        <p:nvSpPr>
          <p:cNvPr id="9" name="Rounded Rectangle 8"/>
          <p:cNvSpPr/>
          <p:nvPr/>
        </p:nvSpPr>
        <p:spPr>
          <a:xfrm>
            <a:off x="9601200" y="5486400"/>
            <a:ext cx="1828800" cy="457200"/>
          </a:xfrm>
          <a:prstGeom prst="round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5486400"/>
            <a:ext cx="1828800" cy="457200"/>
          </a:xfrm>
          <a:prstGeom prst="rect">
            <a:avLst/>
          </a:prstGeom>
          <a:noFill/>
        </p:spPr>
        <p:txBody>
          <a:bodyPr wrap="square">
            <a:spAutoFit/>
          </a:bodyPr>
          <a:lstStyle/>
          <a:p>
            <a:pPr algn="ctr">
              <a:lnSpc>
                <a:spcPts val="2100"/>
              </a:lnSpc>
              <a:defRPr sz="1400" b="1">
                <a:solidFill>
                  <a:srgbClr val="FFFFFF"/>
                </a:solidFill>
                <a:latin typeface="Calibri"/>
              </a:defRPr>
            </a:pPr>
            <a:r>
              <a:t>Submit</a:t>
            </a:r>
          </a:p>
        </p:txBody>
      </p:sp>
      <p:sp>
        <p:nvSpPr>
          <p:cNvPr id="11" name="TextBox 10"/>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17</a:t>
            </a:r>
          </a:p>
        </p:txBody>
      </p:sp>
      <p:sp>
        <p:nvSpPr>
          <p:cNvPr id="12" name="TextBox 11"/>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3" name="TextBox 12"/>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Knowledge check</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2.5-7b  |  L09 — Feedback</a:t>
            </a:r>
          </a:p>
        </p:txBody>
      </p:sp>
      <p:sp>
        <p:nvSpPr>
          <p:cNvPr id="4" name="TextBox 3"/>
          <p:cNvSpPr txBox="1"/>
          <p:nvPr/>
        </p:nvSpPr>
        <p:spPr>
          <a:xfrm>
            <a:off x="640080" y="1371600"/>
            <a:ext cx="7498079" cy="914400"/>
          </a:xfrm>
          <a:prstGeom prst="rect">
            <a:avLst/>
          </a:prstGeom>
          <a:noFill/>
        </p:spPr>
        <p:txBody>
          <a:bodyPr wrap="square">
            <a:spAutoFit/>
          </a:bodyPr>
          <a:lstStyle/>
          <a:p>
            <a:pPr algn="l">
              <a:lnSpc>
                <a:spcPts val="2700"/>
              </a:lnSpc>
              <a:defRPr sz="1800" b="1">
                <a:solidFill>
                  <a:srgbClr val="FFFFFF"/>
                </a:solidFill>
                <a:latin typeface="Calibri"/>
              </a:defRPr>
            </a:pPr>
            <a:r>
              <a:t>You're managing a construction project with a well-defined scope, a fixed deadline, and an experienced vendor pool. Which contract type best fits this situation?</a:t>
            </a:r>
          </a:p>
        </p:txBody>
      </p:sp>
      <p:sp>
        <p:nvSpPr>
          <p:cNvPr id="5" name="TextBox 4"/>
          <p:cNvSpPr txBox="1"/>
          <p:nvPr/>
        </p:nvSpPr>
        <p:spPr>
          <a:xfrm>
            <a:off x="914400" y="2560320"/>
            <a:ext cx="6400800" cy="381000"/>
          </a:xfrm>
          <a:prstGeom prst="rect">
            <a:avLst/>
          </a:prstGeom>
          <a:noFill/>
        </p:spPr>
        <p:txBody>
          <a:bodyPr wrap="square">
            <a:spAutoFit/>
          </a:bodyPr>
          <a:lstStyle/>
          <a:p>
            <a:r>
              <a:rPr sz="1600">
                <a:solidFill>
                  <a:srgbClr val="AAAAAA"/>
                </a:solidFill>
                <a:latin typeface="Calibri"/>
              </a:rPr>
              <a:t>○  A.  </a:t>
            </a:r>
            <a:r>
              <a:rPr sz="1600">
                <a:solidFill>
                  <a:srgbClr val="FFFFFF"/>
                </a:solidFill>
                <a:latin typeface="Calibri"/>
              </a:rPr>
              <a:t>Time-and-materials — maximum flexibility for scope changes</a:t>
            </a:r>
          </a:p>
        </p:txBody>
      </p:sp>
      <p:sp>
        <p:nvSpPr>
          <p:cNvPr id="6" name="TextBox 5"/>
          <p:cNvSpPr txBox="1"/>
          <p:nvPr/>
        </p:nvSpPr>
        <p:spPr>
          <a:xfrm>
            <a:off x="914400" y="3108960"/>
            <a:ext cx="6400800" cy="381000"/>
          </a:xfrm>
          <a:prstGeom prst="rect">
            <a:avLst/>
          </a:prstGeom>
          <a:noFill/>
        </p:spPr>
        <p:txBody>
          <a:bodyPr wrap="square">
            <a:spAutoFit/>
          </a:bodyPr>
          <a:lstStyle/>
          <a:p>
            <a:r>
              <a:rPr sz="1600">
                <a:solidFill>
                  <a:srgbClr val="27AE60"/>
                </a:solidFill>
                <a:latin typeface="Calibri"/>
              </a:rPr>
              <a:t>◉  B.  </a:t>
            </a:r>
            <a:r>
              <a:rPr sz="1600">
                <a:solidFill>
                  <a:srgbClr val="FFFFFF"/>
                </a:solidFill>
                <a:latin typeface="Calibri"/>
              </a:rPr>
              <a:t>Fixed-price — risk transferred to vendor, scope is locked</a:t>
            </a:r>
          </a:p>
        </p:txBody>
      </p:sp>
      <p:sp>
        <p:nvSpPr>
          <p:cNvPr id="7" name="TextBox 6"/>
          <p:cNvSpPr txBox="1"/>
          <p:nvPr/>
        </p:nvSpPr>
        <p:spPr>
          <a:xfrm>
            <a:off x="914400" y="3657600"/>
            <a:ext cx="6400800" cy="381000"/>
          </a:xfrm>
          <a:prstGeom prst="rect">
            <a:avLst/>
          </a:prstGeom>
          <a:noFill/>
        </p:spPr>
        <p:txBody>
          <a:bodyPr wrap="square">
            <a:spAutoFit/>
          </a:bodyPr>
          <a:lstStyle/>
          <a:p>
            <a:r>
              <a:rPr sz="1600">
                <a:solidFill>
                  <a:srgbClr val="AAAAAA"/>
                </a:solidFill>
                <a:latin typeface="Calibri"/>
              </a:rPr>
              <a:t>○  C.  </a:t>
            </a:r>
            <a:r>
              <a:rPr sz="1600">
                <a:solidFill>
                  <a:srgbClr val="FFFFFF"/>
                </a:solidFill>
                <a:latin typeface="Calibri"/>
              </a:rPr>
              <a:t>Capped T&amp;M — shared risk with a cost ceiling</a:t>
            </a:r>
          </a:p>
        </p:txBody>
      </p:sp>
      <p:sp>
        <p:nvSpPr>
          <p:cNvPr id="8" name="TextBox 7"/>
          <p:cNvSpPr txBox="1"/>
          <p:nvPr/>
        </p:nvSpPr>
        <p:spPr>
          <a:xfrm>
            <a:off x="914400" y="4206240"/>
            <a:ext cx="6400800" cy="381000"/>
          </a:xfrm>
          <a:prstGeom prst="rect">
            <a:avLst/>
          </a:prstGeom>
          <a:noFill/>
        </p:spPr>
        <p:txBody>
          <a:bodyPr wrap="square">
            <a:spAutoFit/>
          </a:bodyPr>
          <a:lstStyle/>
          <a:p>
            <a:r>
              <a:rPr sz="1600">
                <a:solidFill>
                  <a:srgbClr val="AAAAAA"/>
                </a:solidFill>
                <a:latin typeface="Calibri"/>
              </a:rPr>
              <a:t>○  D.  </a:t>
            </a:r>
            <a:r>
              <a:rPr sz="1600">
                <a:solidFill>
                  <a:srgbClr val="FFFFFF"/>
                </a:solidFill>
                <a:latin typeface="Calibri"/>
              </a:rPr>
              <a:t>Cost-plus — vendor reimbursed for all costs plus a fee</a:t>
            </a:r>
          </a:p>
        </p:txBody>
      </p:sp>
      <p:sp>
        <p:nvSpPr>
          <p:cNvPr id="9" name="Rectangle 8"/>
          <p:cNvSpPr/>
          <p:nvPr/>
        </p:nvSpPr>
        <p:spPr>
          <a:xfrm>
            <a:off x="8046720" y="1097280"/>
            <a:ext cx="3840480" cy="2103120"/>
          </a:xfrm>
          <a:prstGeom prst="rect">
            <a:avLst/>
          </a:prstGeom>
          <a:solidFill>
            <a:srgbClr val="253045"/>
          </a:solidFill>
          <a:ln w="12700">
            <a:solidFill>
              <a:srgbClr val="1A9A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234440"/>
            <a:ext cx="3657600" cy="228600"/>
          </a:xfrm>
          <a:prstGeom prst="rect">
            <a:avLst/>
          </a:prstGeom>
          <a:noFill/>
        </p:spPr>
        <p:txBody>
          <a:bodyPr wrap="none">
            <a:spAutoFit/>
          </a:bodyPr>
          <a:lstStyle/>
          <a:p>
            <a:pPr>
              <a:defRPr sz="1000" b="1">
                <a:solidFill>
                  <a:srgbClr val="FFE600"/>
                </a:solidFill>
                <a:latin typeface="Calibri"/>
              </a:defRPr>
            </a:pPr>
            <a:r>
              <a:t>✓ CORRECT</a:t>
            </a:r>
          </a:p>
        </p:txBody>
      </p:sp>
      <p:sp>
        <p:nvSpPr>
          <p:cNvPr id="11" name="TextBox 10"/>
          <p:cNvSpPr txBox="1"/>
          <p:nvPr/>
        </p:nvSpPr>
        <p:spPr>
          <a:xfrm>
            <a:off x="8229600" y="1554480"/>
            <a:ext cx="3474720" cy="1371600"/>
          </a:xfrm>
          <a:prstGeom prst="rect">
            <a:avLst/>
          </a:prstGeom>
          <a:noFill/>
        </p:spPr>
        <p:txBody>
          <a:bodyPr wrap="square">
            <a:spAutoFit/>
          </a:bodyPr>
          <a:lstStyle/>
          <a:p>
            <a:pPr algn="l">
              <a:lnSpc>
                <a:spcPts val="2100"/>
              </a:lnSpc>
              <a:defRPr sz="1400" b="0">
                <a:solidFill>
                  <a:srgbClr val="FFFFFF"/>
                </a:solidFill>
                <a:latin typeface="Calibri"/>
              </a:defRPr>
            </a:pPr>
            <a:r>
              <a:t>Fixed-price is the right choice here. The scope is well-defined and the deadline is fixed — that means scope changes are unlikely, so transferring delivery risk to the vendor makes sense. The experienced vendor pool means vendors can price accurately.</a:t>
            </a:r>
          </a:p>
        </p:txBody>
      </p:sp>
      <p:sp>
        <p:nvSpPr>
          <p:cNvPr id="12" name="Rectangle 11"/>
          <p:cNvSpPr/>
          <p:nvPr/>
        </p:nvSpPr>
        <p:spPr>
          <a:xfrm>
            <a:off x="8046720" y="3383280"/>
            <a:ext cx="3840480" cy="2103120"/>
          </a:xfrm>
          <a:prstGeom prst="rect">
            <a:avLst/>
          </a:prstGeom>
          <a:solidFill>
            <a:srgbClr val="253045"/>
          </a:solidFill>
          <a:ln w="12700">
            <a:solidFill>
              <a:srgbClr val="1A9A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3520440"/>
            <a:ext cx="3657600" cy="228600"/>
          </a:xfrm>
          <a:prstGeom prst="rect">
            <a:avLst/>
          </a:prstGeom>
          <a:noFill/>
        </p:spPr>
        <p:txBody>
          <a:bodyPr wrap="none">
            <a:spAutoFit/>
          </a:bodyPr>
          <a:lstStyle/>
          <a:p>
            <a:pPr>
              <a:defRPr sz="1000" b="1">
                <a:solidFill>
                  <a:srgbClr val="FFE600"/>
                </a:solidFill>
                <a:latin typeface="Calibri"/>
              </a:defRPr>
            </a:pPr>
            <a:r>
              <a:t>✗ INCORRECT</a:t>
            </a:r>
          </a:p>
        </p:txBody>
      </p:sp>
      <p:sp>
        <p:nvSpPr>
          <p:cNvPr id="14" name="TextBox 13"/>
          <p:cNvSpPr txBox="1"/>
          <p:nvPr/>
        </p:nvSpPr>
        <p:spPr>
          <a:xfrm>
            <a:off x="8229600" y="3840480"/>
            <a:ext cx="3474720" cy="1371600"/>
          </a:xfrm>
          <a:prstGeom prst="rect">
            <a:avLst/>
          </a:prstGeom>
          <a:noFill/>
        </p:spPr>
        <p:txBody>
          <a:bodyPr wrap="square">
            <a:spAutoFit/>
          </a:bodyPr>
          <a:lstStyle/>
          <a:p>
            <a:pPr algn="l">
              <a:lnSpc>
                <a:spcPts val="2100"/>
              </a:lnSpc>
              <a:defRPr sz="1400" b="0">
                <a:solidFill>
                  <a:srgbClr val="FFFFFF"/>
                </a:solidFill>
                <a:latin typeface="Calibri"/>
              </a:defRPr>
            </a:pPr>
            <a:r>
              <a:t>With a well-defined scope and fixed deadline, fixed-price is the strongest fit. T&amp;M gives flexibility you don't need here, and cost-plus removes the vendor's incentive to control costs. Remember: match the contract type to the project's risk profile.</a:t>
            </a:r>
          </a:p>
        </p:txBody>
      </p:sp>
      <p:sp>
        <p:nvSpPr>
          <p:cNvPr id="15" name="Rounded Rectangle 14"/>
          <p:cNvSpPr/>
          <p:nvPr/>
        </p:nvSpPr>
        <p:spPr>
          <a:xfrm>
            <a:off x="8961120" y="5669280"/>
            <a:ext cx="1828800" cy="457200"/>
          </a:xfrm>
          <a:prstGeom prst="round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5669280"/>
            <a:ext cx="1828800" cy="457200"/>
          </a:xfrm>
          <a:prstGeom prst="rect">
            <a:avLst/>
          </a:prstGeom>
          <a:noFill/>
        </p:spPr>
        <p:txBody>
          <a:bodyPr wrap="square">
            <a:spAutoFit/>
          </a:bodyPr>
          <a:lstStyle/>
          <a:p>
            <a:pPr algn="ctr">
              <a:lnSpc>
                <a:spcPts val="2100"/>
              </a:lnSpc>
              <a:defRPr sz="1400" b="1">
                <a:solidFill>
                  <a:srgbClr val="FFFFFF"/>
                </a:solidFill>
                <a:latin typeface="Calibri"/>
              </a:defRPr>
            </a:pPr>
            <a:r>
              <a:t>Continue</a:t>
            </a:r>
          </a:p>
        </p:txBody>
      </p:sp>
      <p:sp>
        <p:nvSpPr>
          <p:cNvPr id="17" name="TextBox 16"/>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18</a:t>
            </a:r>
          </a:p>
        </p:txBody>
      </p:sp>
      <p:sp>
        <p:nvSpPr>
          <p:cNvPr id="18" name="TextBox 17"/>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19" name="TextBox 18"/>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TextBox 1"/>
          <p:cNvSpPr txBox="1"/>
          <p:nvPr/>
        </p:nvSpPr>
        <p:spPr>
          <a:xfrm>
            <a:off x="640080" y="365760"/>
            <a:ext cx="10972800" cy="635000"/>
          </a:xfrm>
          <a:prstGeom prst="rect">
            <a:avLst/>
          </a:prstGeom>
          <a:noFill/>
        </p:spPr>
        <p:txBody>
          <a:bodyPr wrap="square">
            <a:spAutoFit/>
          </a:bodyPr>
          <a:lstStyle/>
          <a:p>
            <a:pPr>
              <a:defRPr sz="3200" b="1">
                <a:solidFill>
                  <a:srgbClr val="1A9AFA"/>
                </a:solidFill>
                <a:latin typeface="Calibri"/>
              </a:defRPr>
            </a:pPr>
            <a:r>
              <a:t>Key takeaways</a:t>
            </a:r>
          </a:p>
        </p:txBody>
      </p:sp>
      <p:sp>
        <p:nvSpPr>
          <p:cNvPr id="3" name="TextBox 2"/>
          <p:cNvSpPr txBox="1"/>
          <p:nvPr/>
        </p:nvSpPr>
        <p:spPr>
          <a:xfrm>
            <a:off x="9601200" y="365760"/>
            <a:ext cx="2286000" cy="317500"/>
          </a:xfrm>
          <a:prstGeom prst="rect">
            <a:avLst/>
          </a:prstGeom>
          <a:noFill/>
        </p:spPr>
        <p:txBody>
          <a:bodyPr wrap="none">
            <a:spAutoFit/>
          </a:bodyPr>
          <a:lstStyle/>
          <a:p>
            <a:pPr algn="r">
              <a:defRPr sz="1200" b="1">
                <a:solidFill>
                  <a:srgbClr val="AAAAAA"/>
                </a:solidFill>
                <a:latin typeface="Calibri"/>
              </a:defRPr>
            </a:pPr>
            <a:r>
              <a:t>2.5-8  |  L14</a:t>
            </a:r>
          </a:p>
        </p:txBody>
      </p:sp>
      <p:sp>
        <p:nvSpPr>
          <p:cNvPr id="4" name="TextBox 3"/>
          <p:cNvSpPr txBox="1"/>
          <p:nvPr/>
        </p:nvSpPr>
        <p:spPr>
          <a:xfrm>
            <a:off x="640080" y="1645920"/>
            <a:ext cx="10881360" cy="3657600"/>
          </a:xfrm>
          <a:prstGeom prst="rect">
            <a:avLst/>
          </a:prstGeom>
          <a:noFill/>
        </p:spPr>
        <p:txBody>
          <a:bodyPr wrap="square">
            <a:spAutoFit/>
          </a:bodyPr>
          <a:lstStyle/>
          <a:p>
            <a:pPr>
              <a:lnSpc>
                <a:spcPts val="2400"/>
              </a:lnSpc>
              <a:spcAft>
                <a:spcPts val="1000"/>
              </a:spcAft>
            </a:pPr>
            <a:r>
              <a:rPr sz="1200">
                <a:solidFill>
                  <a:srgbClr val="7AB648"/>
                </a:solidFill>
                <a:latin typeface="Calibri"/>
              </a:rPr>
              <a:t>●  </a:t>
            </a:r>
            <a:r>
              <a:rPr sz="1500">
                <a:solidFill>
                  <a:srgbClr val="FFFFFF"/>
                </a:solidFill>
                <a:latin typeface="Calibri"/>
              </a:rPr>
              <a:t>A procurement plan answers 'how will we buy?' — distinct from the project plan's 'what and when?'</a:t>
            </a:r>
          </a:p>
          <a:p>
            <a:pPr>
              <a:lnSpc>
                <a:spcPts val="2400"/>
              </a:lnSpc>
              <a:spcAft>
                <a:spcPts val="1000"/>
              </a:spcAft>
            </a:pPr>
            <a:r>
              <a:rPr sz="1200">
                <a:solidFill>
                  <a:srgbClr val="7AB648"/>
                </a:solidFill>
                <a:latin typeface="Calibri"/>
              </a:rPr>
              <a:t>●  </a:t>
            </a:r>
            <a:r>
              <a:rPr sz="1500">
                <a:solidFill>
                  <a:srgbClr val="FFFFFF"/>
                </a:solidFill>
                <a:latin typeface="Calibri"/>
              </a:rPr>
              <a:t>Eight components group into three phases: Define, Execute, Govern</a:t>
            </a:r>
          </a:p>
          <a:p>
            <a:pPr>
              <a:lnSpc>
                <a:spcPts val="2400"/>
              </a:lnSpc>
              <a:spcAft>
                <a:spcPts val="1000"/>
              </a:spcAft>
            </a:pPr>
            <a:r>
              <a:rPr sz="1200">
                <a:solidFill>
                  <a:srgbClr val="7AB648"/>
                </a:solidFill>
                <a:latin typeface="Calibri"/>
              </a:rPr>
              <a:t>●  </a:t>
            </a:r>
            <a:r>
              <a:rPr sz="1500">
                <a:solidFill>
                  <a:srgbClr val="FFFFFF"/>
                </a:solidFill>
                <a:latin typeface="Calibri"/>
              </a:rPr>
              <a:t>Contract type is the biggest risk-allocation lever — match it to scope certainty and timeline pressure</a:t>
            </a:r>
          </a:p>
        </p:txBody>
      </p:sp>
      <p:sp>
        <p:nvSpPr>
          <p:cNvPr id="5" name="Rounded Rectangle 4"/>
          <p:cNvSpPr/>
          <p:nvPr/>
        </p:nvSpPr>
        <p:spPr>
          <a:xfrm>
            <a:off x="9601200" y="5669280"/>
            <a:ext cx="1828800" cy="457200"/>
          </a:xfrm>
          <a:prstGeom prst="roundRect">
            <a:avLst/>
          </a:prstGeom>
          <a:solidFill>
            <a:srgbClr val="1A9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0" y="5669280"/>
            <a:ext cx="1828800" cy="457200"/>
          </a:xfrm>
          <a:prstGeom prst="rect">
            <a:avLst/>
          </a:prstGeom>
          <a:noFill/>
        </p:spPr>
        <p:txBody>
          <a:bodyPr wrap="square">
            <a:spAutoFit/>
          </a:bodyPr>
          <a:lstStyle/>
          <a:p>
            <a:pPr algn="ctr">
              <a:lnSpc>
                <a:spcPts val="2100"/>
              </a:lnSpc>
              <a:defRPr sz="1400" b="1">
                <a:solidFill>
                  <a:srgbClr val="FFFFFF"/>
                </a:solidFill>
                <a:latin typeface="Calibri"/>
              </a:defRPr>
            </a:pPr>
            <a:r>
              <a:t>Finish module</a:t>
            </a:r>
          </a:p>
        </p:txBody>
      </p:sp>
      <p:sp>
        <p:nvSpPr>
          <p:cNvPr id="7" name="TextBox 6"/>
          <p:cNvSpPr txBox="1"/>
          <p:nvPr/>
        </p:nvSpPr>
        <p:spPr>
          <a:xfrm>
            <a:off x="274320" y="6446520"/>
            <a:ext cx="365760" cy="228600"/>
          </a:xfrm>
          <a:prstGeom prst="rect">
            <a:avLst/>
          </a:prstGeom>
          <a:noFill/>
        </p:spPr>
        <p:txBody>
          <a:bodyPr wrap="none">
            <a:spAutoFit/>
          </a:bodyPr>
          <a:lstStyle/>
          <a:p>
            <a:pPr>
              <a:defRPr sz="900">
                <a:solidFill>
                  <a:srgbClr val="888888"/>
                </a:solidFill>
                <a:latin typeface="Calibri"/>
              </a:defRPr>
            </a:pPr>
            <a:r>
              <a:t>19</a:t>
            </a:r>
          </a:p>
        </p:txBody>
      </p:sp>
      <p:sp>
        <p:nvSpPr>
          <p:cNvPr id="8" name="TextBox 7"/>
          <p:cNvSpPr txBox="1"/>
          <p:nvPr/>
        </p:nvSpPr>
        <p:spPr>
          <a:xfrm>
            <a:off x="731520" y="6446520"/>
            <a:ext cx="1371600" cy="228600"/>
          </a:xfrm>
          <a:prstGeom prst="rect">
            <a:avLst/>
          </a:prstGeom>
          <a:noFill/>
        </p:spPr>
        <p:txBody>
          <a:bodyPr wrap="none">
            <a:spAutoFit/>
          </a:bodyPr>
          <a:lstStyle/>
          <a:p>
            <a:pPr>
              <a:defRPr sz="900">
                <a:solidFill>
                  <a:srgbClr val="888888"/>
                </a:solidFill>
                <a:latin typeface="Calibri"/>
              </a:defRPr>
            </a:pPr>
            <a:r>
              <a:t>12 March 2026</a:t>
            </a:r>
          </a:p>
        </p:txBody>
      </p:sp>
      <p:sp>
        <p:nvSpPr>
          <p:cNvPr id="9" name="TextBox 8"/>
          <p:cNvSpPr txBox="1"/>
          <p:nvPr/>
        </p:nvSpPr>
        <p:spPr>
          <a:xfrm>
            <a:off x="3200400" y="6446520"/>
            <a:ext cx="5943600" cy="228600"/>
          </a:xfrm>
          <a:prstGeom prst="rect">
            <a:avLst/>
          </a:prstGeom>
          <a:noFill/>
        </p:spPr>
        <p:txBody>
          <a:bodyPr wrap="none">
            <a:spAutoFit/>
          </a:bodyPr>
          <a:lstStyle/>
          <a:p>
            <a:pPr algn="ctr">
              <a:defRPr sz="900">
                <a:solidFill>
                  <a:srgbClr val="888888"/>
                </a:solidFill>
                <a:latin typeface="Calibri"/>
              </a:defRPr>
            </a:pPr>
            <a:r>
              <a:t>Internal use only  |  Module 2.5 — Developing the procurement plan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