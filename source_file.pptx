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37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960120" y="1417320"/>
            <a:ext cx="4480560" cy="54864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40680" y="1417320"/>
            <a:ext cx="182880" cy="201168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60120" y="3429000"/>
            <a:ext cx="4663440" cy="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0120" y="1965960"/>
            <a:ext cx="0" cy="146304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70432" y="2212848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rial"/>
              </a:defRPr>
            </a:pPr>
            <a:r>
              <a:t>Section 6: Contract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21808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2CAD6"/>
                </a:solidFill>
                <a:latin typeface="Arial"/>
              </a:defRPr>
            </a:pPr>
            <a:r>
              <a:t>The better the question. The better the answer. The better the world works.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Topics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4709160"/>
            <a:ext cx="164592" cy="50292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82711" y="4389120"/>
            <a:ext cx="164592" cy="82296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38744" y="3977639"/>
            <a:ext cx="164592" cy="123444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94776" y="3520440"/>
            <a:ext cx="164592" cy="169164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50808" y="3154680"/>
            <a:ext cx="164592" cy="205740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7543800" y="4160520"/>
            <a:ext cx="1645920" cy="1005840"/>
          </a:xfrm>
          <a:prstGeom prst="line">
            <a:avLst/>
          </a:prstGeom>
          <a:ln w="25400">
            <a:solidFill>
              <a:srgbClr val="4B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6.1 Types of Contracts in Infrastructure Procurement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6.2 Key Contractual Terms and Conditions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6.3 Managing Contractual Relationships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6.4 Performance Monitoring and Reporting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6.5 Change Management and Variations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6.6 Dispute Resolution and Claims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6.1 Types of Contracts in Infrastructure Procurement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Understanding the various types of contracts is essential for effective contract management in infrastructure procurement.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Fixed-Price Contracts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A set price for the entire project.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Benefits: Predictable costs and less risk for the client.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Drawbacks: Less flexibility for changes.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Cost-Reimbursable Contracts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The contractor is reimbursed for allowable costs plus a fee.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Benefits: Flexibility to accommodate changes.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Drawbacks: Less cost certainty for the client.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6.1 Types of Contracts in Infrastructure Procurement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Time and Materials Contracts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Payment is based on the time spent and materials used.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Benefits: Useful for projects with uncertain scope.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Drawbacks: Potential for higher costs if not managed properly.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Design-Build Contracts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A single entity handles both design and construction.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Benefits: Streamlined communication and faster project delivery.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Drawbacks: Less client control over design.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Public-Private Partnerships (PPP)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Collaboration between government and private sector.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Benefits: Shared risk and investment.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Drawbacks: Complex negotiations and long-term commitments.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6.2 Key Contractual Terms and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Key contractual terms and conditions serve as the foundation for successful project execution and risk management in infrastructure procurement.</a:t>
            </a:r>
          </a:p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A clear understanding of these terms helps ensure both parties are aligned on expectations, responsibilities, and procedures throughout the contract lifecycle.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Scope of Work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Clearly defines the work to be performed.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Includes specifications, deliverables, and timelines.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Payment Terms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Outlines payment schedule, methods, and conditions.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Specifies any retainers or milestone payments.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6.2 Key Contractual Terms and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Change Management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Procedures for handling changes to the scope of work.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Includes documentation, approval processes, and cost implications.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Performance Standards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Defines quality and performance expectations.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May include key performance indicators (KPIs) and penalties for non-compliance.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Termination Clauses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Conditions under which the contract can be terminated.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Specifies notice periods and obligations upon termination.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6.2 Key Contractual Terms and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Dispute Resolution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Outlines methods for resolving conflicts, such as mediation or arbitration.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Specifies jurisdiction and governing law.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Liability and Indemnification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Defines liability limits for both parties.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Includes indemnification provisions to protect against claims.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Confidentiality and Non-Disclosure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Obligations to protect sensitive information.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Duration and scope of confidentiality requirements.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6.3 Managing Contractual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Effective management of contractual relationships is crucial for ensuring project success and fostering collaboration between parties.</a:t>
            </a:r>
          </a:p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Strong relationships can lead to better communication, conflict resolution, and overall project performance.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Establish Clear Communication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Maintain open lines of communication between all stakeholders.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Schedule regular meetings to discuss progress, issues, and updates.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Define Roles and Responsibilities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Clearly outline the roles and responsibilities of each party.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Ensure all team members understand their obligations and expectations.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6.3 Managing Contractual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Monitor Performance and Compliance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Regularly assess performance against contractual obligations and KPIs.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Address any deviations promptly to mitigate risks.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Foster Collaboration and Trust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Encourage a collaborative approach to problem-solving.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Build trust through transparency and accountability.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Implement Change Management Processes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Establish clear procedures for managing changes to the contract.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Ensure all changes are documented and agreed upon by both parties.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6.3 Managing Contractual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Address Conflicts Proactively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Identify potential conflicts early and address them before they escalate.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Utilize dispute resolution mechanisms as needed.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Conduct Regular Reviews and Feedback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Schedule periodic reviews to evaluate the relationship and contract performance.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Gather feedback from all parties to identify areas for improvement.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Plan for Contract Closeout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Prepare for successful contract closeout by ensuring all obligations are met.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Conduct a final review to capture lessons learned and best practices for future contracts.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6.4 Performance Monitoring and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Performance monitoring and reporting are essential components of contract management that ensure alignment with project objectives.</a:t>
            </a:r>
          </a:p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By systematically tracking progress and outcomes, stakeholders can make informed decisions, address issues proactively, and enhance overall project success.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Define Key Performance Indicators (KPIs)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Establish measurable KPIs that align with project objectives.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Ensure KPIs cover quality, time, cost, and stakeholder satisfaction.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Develop a Monitoring Plan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Create a structured plan outlining how performance will be monitored.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Specify data collection methods, reporting frequency, and responsible parties.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6.4 Performance Monitoring and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Regular Data Collection and Analysis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Collect performance data consistently throughout the project lifecycle.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Analyze data to identify trends, variances, and areas requiring attention.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Conduct Performance Reviews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Schedule regular performance review meetings with stakeholders.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Discuss progress against KPIs, challenges faced, and corrective actions needed.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Reporting Mechanisms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Develop clear and concise reporting formats for stakeholders.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Include visual aids such as charts and graphs to enhance understanding of performance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6.4 Performance Monitoring and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Feedback Loop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Establish a feedback mechanism to gather input from stakeholders.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Use feedback to refine processes and improve future performance.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Adjustments and Continuous Improvement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Be prepared to make adjustments based on performance data and stakeholder feedback.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Foster a culture of continuous improvement to enhance project outcomes.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Final Performance Evaluation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Conduct a comprehensive evaluation at project completion.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Assess overall performance against objectives and document lessons learned.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6.5 Change Management and Variations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Change management refers to the structured approach to transitioning individuals, teams, and organizations from a current state to a desired future state.</a:t>
            </a:r>
          </a:p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In infrastructure projects, it involves managing changes in project scope, timelines, and costs.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Key Drivers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Regulatory changes may require modifications to project plans.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Stakeholder requests can change requirements or expectations.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Technological advancements may necessitate updates to project designs or methodologies.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Environmental factors can impact project execution and require changes.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Budget constraints may lead to scope reductions or alternative solutions.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6.5 Change Management and Variations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Change Management Process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Change Identification: Recognizing the need for change through monitoring, stakeholder feedback, or external factors.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Change Request Submission: Formal submission of a change request, including details about the proposed change and its rationale.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Impact Analysis: Assessing the potential impact on scope, schedule, budget, and resources, including cost estimation, time analysis, and risk assessment.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Review and Approval: Presenting the change request and analysis to the control board or relevant stakeholders for approval.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This step ensures all parties understand and agree to the change.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6.5 Change Management and Variations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Change Management Process (contd.)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Implementation: Communicate the change to all affected parties, update project documentation, schedule, and budget, and train team members if necessary.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Monitoring and Evaluation: Track performance metrics, gather feedback, and make adjustments if necessary.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Tools and Techniques for Change Management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Change management plans formalize the process, roles, and responsibilities.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Change control boards review and approve change requests.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Change request forms capture and standardize proposed changes.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6.5 Change Management and Variations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Tools and Techniques for Change Management (contd.)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Stakeholder engagement strategies involve stakeholders in the change process and ensure concerns and inputs are considered.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Project management software helps track changes, document approvals, and manage project schedules and budgets.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Challenges in Change Management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Resistance to change: Team members and stakeholders may resist changes due to fear of the unknown or disruption of established processes.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Communication gaps: Ineffective communication can lead to misunderstandings about the change and its implications.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Resource constraints can hinder implementation.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Complex infrastructure projects can complicate change management efforts.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6.5 Change Management and Variations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Best Practices for Effective Change Management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Early engagement: Involve stakeholders early to gather input and build support.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Clear communication: Maintain open lines of communication to keep all parties informed about changes and their implications.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Documentation: Keep thorough records of change requests, approvals, and implementations to ensure accountability and transparency.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Training and support: Provide training and resources to help team members adapt to changes smoothly.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55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6.6 Dispute Resolution and Claims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Dispute resolution and claims management are critical components of contract management in infrastructure projects.</a:t>
            </a:r>
          </a:p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They involve processes and strategies to address conflicts that arise during project execution and to manage claims related to contract terms, performance, and obligations.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Common Causes of Disputes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Contract ambiguities: Vague or unclear terms can lead to differing interpretations.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Scope changes: Variations in project scope can create disagreements over responsibilities and costs.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Delays: Schedule delays can result in claims for damages or penalties.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Quality issues: Disputes may arise over the quality of work or materials.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Payment disputes: Conflicts over payment terms, amounts, or timing can lead to claims.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6.6 Dispute Resolution and Claims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Claims Management Process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Claim identification: Recognize potential claims related to delays, additional costs, or scope changes.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Documentation gathering: Organize relevant documentation such as contract documents, correspondence, records of work performed, and evidence of delays or additional costs.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Claim submission: Formally submit the claim with supporting documentation.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Review and evaluation: Review the claim to assess validity and supporting evidence.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Negotiation: Discuss to resolve the claim amicably with the involved parties.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Resolution: Reach an agreement, which may result in payment, contract modification, or other remedies.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6.6 Dispute Resolution and Claims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Dispute Resolution Mechanisms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Mediation: A neutral third party facilitates discussion and helps parties reach a mutually acceptable resolution; it is typically non-binding.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Arbitration: A more formal process where an arbitrator hears both sides and makes a binding decision.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Litigation: If other methods fail, parties may resort to court, which can be costly and time-consuming.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Best Practices for Claims Management and Dispute Resolution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Clear contract language ensures contracts are clear and unambiguous.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Regular communication maintains open lines of communication throughout the project to address issues before escalation.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6.6 Dispute Resolution and Claims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Best Practices for Claims Management and Dispute Resolution (contd.)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Documentation: Keep thorough records of project activities, communications, and changes to support claims and resolve disputes effectively.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Early identification of issues: Monitor project performance closely to identify potential disputes early and address them proactively.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Training and awareness: Provide training for project teams on dispute resolution processes and claims management.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Impact of Effective Dispute Resolution and Claims Management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Cost savings: Efficient resolution can minimize legal costs and avoid lengthy litigation.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Project continuity: Resolving disputes quickly helps maintain momentum and reduce delays.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Improved relationships: Effective communication and resolution strategies foster better relationships between stakeholders.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59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59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960120" y="1417320"/>
            <a:ext cx="4480560" cy="54864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40680" y="1417320"/>
            <a:ext cx="182880" cy="201168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60120" y="3429000"/>
            <a:ext cx="4663440" cy="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0120" y="1965960"/>
            <a:ext cx="0" cy="146304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70432" y="2212848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rial"/>
              </a:defRPr>
            </a:pPr>
            <a:r>
              <a:t>Section 7: Key Considerations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21808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2CAD6"/>
                </a:solidFill>
                <a:latin typeface="Arial"/>
              </a:defRPr>
            </a:pPr>
            <a:r>
              <a:t>The better the question. The better the answer. The better the world works.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Topics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4709160"/>
            <a:ext cx="164592" cy="50292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82711" y="4389120"/>
            <a:ext cx="164592" cy="82296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38744" y="3977639"/>
            <a:ext cx="164592" cy="123444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94776" y="3520440"/>
            <a:ext cx="164592" cy="169164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50808" y="3154680"/>
            <a:ext cx="164592" cy="205740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7543800" y="4160520"/>
            <a:ext cx="1645920" cy="1005840"/>
          </a:xfrm>
          <a:prstGeom prst="line">
            <a:avLst/>
          </a:prstGeom>
          <a:ln w="25400">
            <a:solidFill>
              <a:srgbClr val="4B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7.1 Overview of Regulatory Frameworks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7.2 Key Legal Considerations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7.3 Compliance with Local Laws and Regulations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7.4 International Treaties and Agreements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7.5 Dispute Resolution Mechanisms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[Add any others]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7.1 Overview of Regulatory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Regulatory frameworks refer to the set of laws, regulations, guidelines, and policies that govern the procurement process for infrastructure projects.</a:t>
            </a:r>
          </a:p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These frameworks are designed to ensure transparency, fairness, accountability, and efficiency while promoting competition and protecting public interests.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Importance of Regulatory Frameworks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Ensures compliance by providing a legal basis for procurement activities.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Promotes fair competition by setting clear rules for procurement, helping create a level playing field.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Protects public interest by safeguarding public resources and ensuring projects meet quality and safety standards.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62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7.1 Overview of Regulatory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Importance of Regulatory Frameworks (contd.)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Enhances transparency by minimizing corruption and mismanagement.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Key Components of Regulatory Frameworks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Legislation: National and local laws that govern procurement practices, including acts related to public procurement, contract management, and infrastructure development.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Regulations and guidelines: Detailed rules and procedures that outline how procurement should be conducted, including bidding processes, evaluation criteria, and contract award procedures.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Standards and codes: Technical standards and codes of practice that ensure quality and safety, often developed by industry bodies or regulatory agencies.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7.1 Overview of Regulatory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Key Components of Regulatory Frameworks (contd.)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Oversight bodies monitor compliance with procurement regulations, investigate complaints, and enforce penalties for violations.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Types of Regulatory Frameworks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Public procurement laws govern procurement of goods, services, and works by public entities, covering bidding, contract awards, and dispute resolution.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Environmental regulations require infrastructure projects to assess and mitigate environmental impacts.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Health and safety regulations set safety standards for construction sites and worker health.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64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7.1 Overview of Regulatory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Types of Regulatory Frameworks (contd.)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Financial regulations govern financial aspects of procurement, including budgeting, funding, and financial reporting.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Challenges in Regulatory Frameworks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Complexity can make frameworks difficult to navigate.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Inconsistent regulations across jurisdictions can create challenges for contractors and suppliers operating in multiple regions.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Bureaucracy can lead to lengthy approvals and project delays.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Lack of awareness can result in non-compliance and potential penalties.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65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7.1 Overview of Regulatory Frameworks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Best Practices for Navigating Regulatory Frameworks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Training and capacity building: Provide training for procurement professionals and stakeholders to enhance understanding of regulatory requirements and best practices.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Stakeholder engagement: Involve stakeholders in developing and reviewing regulatory frameworks to ensure practicality and effectiveness.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Regular updates: Keep regulatory frameworks up to date with changing market conditions, technologies, and emerging best practices.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Use of technology: Implement digital tools and platforms to streamline procurement, enhance transparency, and facilitate compliance.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66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7.2 Key Legal Considerations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Contract Law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Formation of contracts: Understand requirements for valid contracts, including offer, acceptance, consideration, and mutual consent.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Contractual obligations: Clearly define rights and responsibilities of all parties to avoid disputes.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Breach of contract: Know the legal implications of failing to fulfill contractual obligations and available remedies.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Public Procurement Regulations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Compliance with public procurement laws: Adhere to national and local laws governing public procurement.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Specific procedures often apply for bidding, evaluation, and contract awards.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67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7.2 Key Legal Considerations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Public Procurement Regulations (contd.)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Transparency requirements ensure procurement processes are conducted transparently to promote fairness and accountability, as mandated by public procurement regulations.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Bid evaluation and award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Evaluation criteria: Establish clear and objective criteria for evaluating bids to ensure compliance and avoid discrimination.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Award procedures: Follow legally prescribed procedures for awarding contracts, including notifying unsuccessful bidders and providing debriefings if requested.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Intellectual Property Rights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Ownership of IP: Clarify ownership of intellectual property created during the project, including designs, plans, and proprietary technologies.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7.2 Key Legal Considerations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Intellectual Property Rights (contd.)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Licensing agreements: Understand legal implications of licensing intellectual property and ensure compliance with relevant laws.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Environmental Laws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Compliance with environmental regulations: Adhere to laws governing environmental protection, including environmental impact assessments for infrastructure projects.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Sustainability considerations: Incorporate sustainability requirements into procurement processes to meet environmental standards.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Labor and Employment Laws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Worker rights: Ensure compliance with labor laws that protect worker rights, including fair wages, working conditions, and safety standards.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69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7.2 Key Legal Considerations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Labor and Employment Laws (contd.)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Subcontractor compliance: Hold subcontractors accountable for adhering to labor laws and ensuring all workers are treated fairly.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Dispute Resolution Mechanisms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Incorporating dispute resolution clauses: Include clauses that outline preferred methods for resolving disputes, such as mediation, arbitration, or litigation.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Legal framework for dispute resolution: Understand the framework governing dispute resolution processes and ensure compliance with relevant laws.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Anti-Corruption and Anti-Bribery Laws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Ethical standards: Establish ethical standards for procurement practices to prevent corruption and maintain public trust.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7.2 Key Legal Considerations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Anti-Corruption and Anti-Bribery Laws (contd.)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Compliance with anti-corruption laws: Adhere to laws prohibiting bribery and corruption in procurement processes, such as the FCPA and UK Bribery Act.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Insurance and Liability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Insurance requirements: Understand legal requirements for insurance coverage for infrastructure projects, including liability insurance and performance bonds.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Liability provisions: Clearly define liability provisions in contracts to allocate risk and responsibility among parties.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Regulatory Approvals and Permits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Obtaining necessary approvals: Ensure all required regulatory approvals and permits are obtained before commencing work on infrastructure projects.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7.2 Key Legal Considerations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Regulatory Approvals and Permits (contd.)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Compliance with local regulations: Adhere to local regulations that may impose additional requirements for procurement and project execution.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72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7.3 Compliance with Local Laws and Regulations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Understanding Local Laws and Regulations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Local laws and regulations refer to the specific legal requirements established by regional or municipal authorities that govern procurement practices, project execution, and related activities.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Importance: Compliance with these laws is essential to ensure procurement processes are legally valid, transparent, and accountable, thereby minimizing risk of legal disputes and penalties.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Key Areas of Compliance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Environmental regulations may require environmental impact assessments and adherence to sustainability standards.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Labor and employment laws govern worker rights, wages, and working conditions.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7.3 Compliance with Local Laws and Regulations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Key Areas of Compliance (contd.)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Public procurement laws often dictate procedures for public procurement, including bidding, evaluation criteria, and contract award methods.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Zoning and land use regulations dictate how land can be used and may require permits for construction projects.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Health and safety regulations establish standards for construction sites and worker safety.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Steps for Ensuring Compliance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Training and capacity building: Provide training for procurement professionals and project managers to enhance understanding and ensure compliance.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74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7.3 Compliance with Local Laws and Regulations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Steps for Ensuring Compliance (contd.)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Research and familiarization: Conduct thorough research to understand applicable local laws and regulations.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Develop compliance checklists: Create checklists covering specific legal requirements that must be met at each stage of procurement, from planning to execution.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Engage local experts: Collaborate with local legal experts, consultants, or regulatory bodies to navigate complex requirements.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Monitoring and Reporting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Regular audits: Conduct audits to ensure compliance with local laws and regulations and identify issues early.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7.3 Compliance with Local Laws and Regulations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Monitoring and Reporting (contd.)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Documentation: Maintain thorough documentation of compliance efforts, including permits obtained, environmental assessments conducted, and compliance training provided.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Reporting mechanisms: Establish reporting mechanisms for stakeholders to raise concerns about non-compliance or legal issues.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Consequences of Non-Compliance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Legal penalties can include fines, contract termination, or litigation.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Project delays may occur when work must stop to rectify legal issues or obtain necessary permits.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76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7.3 Compliance with Local Laws and Regulations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Consequences of Non-Compliance (contd.)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Reputational damage can harm the reputation of the organization and erode trust among stakeholders, including clients, contractors, and the community.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Best Practices for Compliance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Proactive engagement: Engage with local authorities and regulatory bodies early in the procurement process.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Flexibility and adaptability: Be prepared to adapt strategies and project plans to accommodate changes in local laws and regulations.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Continuous improvement: Regularly review and update compliance processes to reflect changes and best practices.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77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7.4 International Treaties and Agreements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International treaties and agreements are formal agreements between countries that establish legally binding obligations regarding trade, investment, and procurement.</a:t>
            </a:r>
          </a:p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They can significantly influence procurement for infrastructure projects by setting standards and guidelines that participating countries must follow.</a:t>
            </a:r>
          </a:p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Importance: Understanding these treaties is crucial for ensuring compliance, promoting fair competition, and facilitating international cooperation.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Key International Treaties and Agreements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WTO Government Procurement Agreement (GPA): Commits member countries to open procurement markets and promote fair and transparent practices.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The GPA encourages member countries to open their procurement markets to foreign suppliers, enhancing competition and efficiency.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7.4 International Treaties and Agreements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United Nations Convention Against Corruption (UNCAC)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Aims to combat corruption in both public and private sectors, including procurement processes.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Encourages countries to adopt measures to promote transparency, accountability, and integrity in public procurement.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Regional Trade Agreements (RTAs)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Many countries enter into RTAs that include provisions related to procurement and may reduce trade barriers or promote cooperation among member states.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Bilateral Investment Treaties (BITs)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BITs establish protections for foreign investors and often include provisions related to fair treatment, non-discrimination, and protection against expropriation.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7.4 International Treaties and Agreements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Implications for Procurement Processes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Market access: International treaties can enhance market access for foreign suppliers, increasing competition and lowering costs.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Standardization of practices: Treaties often promote standardized procurement practices, facilitating cross-border projects and collaboration.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Transparency and accountability: International agreements emphasize transparency and accountability, improving credibility and stakeholder trust.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80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7.4 International Treaties and Agreements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Challenges in Compliance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Complexity of regulations: International treaties and agreements can be complex and difficult to navigate across multiple jurisdictions.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Conflicting regulations: Local laws may conflict with treaty obligations, creating challenges for procurement processes.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Capacity building: Ensuring compliance may require capacity building and training for procurement professionals to understand treaty implications.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7.4 International Treaties and Agreements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Best Practices for Engaging with International Treaties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Legal consultation: Engage legal experts with knowledge of international trade law and procurement regulations.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Stakeholder engagement: Involve stakeholders such as government agencies, contractors, and suppliers in discussions about treaty implications.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Monitoring developments: Stay informed about changes in international treaties and agreements that may impact procurement practices.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7.5 Dispute Resolution Mechanisms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Dispute resolution mechanisms are processes and methods used to resolve conflicts that arise during procurement or execution of infrastructure projects.</a:t>
            </a:r>
          </a:p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Effective dispute resolution is crucial for maintaining project timelines, minimizing costs, and preserving relationships among stakeholders.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Importance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Given the complexity and scale of infrastructure projects, disputes can arise from various sources, including contract interpretation, scope changes, delays, and quality issues.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Having established mechanisms helps ensure projects can proceed smoothly and efficiently.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Common Mechanisms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Negotiation is an informal and direct method of dispute resolution.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7.5 Dispute Resolution Mechanisms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Mediation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A voluntary process where a neutral third party facilitates discussions between disputing parties to help them reach a resolution.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Mediation is non-binding; the mediator does not impose a decision but helps the parties find common ground.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Arbitration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A more formal process where a neutral arbitrator or panel hears evidence and arguments from both parties and makes a binding decision.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Arbitration is often specified in contracts and can be faster and less costly than litigation.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Litigation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Resolving disputes through the court system can be lengthy and expensive and is usually a last resort after other mechanisms are exhausted.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84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7.5 Dispute Resolution Mechanisms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Dispute Review Boards (DRBs)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A panel of experts established at the beginning of a project to provide ongoing advice and resolve disputes as they arise.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DRBs can help prevent disputes from escalating by offering timely recommendations based on their expertise.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Choosing the Right Mechanism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Nature of the dispute: The choice may depend on complexity and nature of the dispute.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For technical disputes, arbitration or DRBs may be suitable, while simpler issues may be resolved through negotiation or mediation.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Contractual provisions: Many contracts include clauses that dictate preferred dispute resolution mechanisms.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7.5 Dispute Resolution Mechanisms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Choosing the Right Mechanism (contd.)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Time and cost considerations: Urgency and associated costs can influence the choice; mediation and negotiation are generally quicker and less expensive than litigation.</a:t>
            </a:r>
          </a:p>
          <a:p>
            <a:pPr>
              <a:spcAft>
                <a:spcPts val="500"/>
              </a:spcAft>
              <a:defRPr sz="1450" b="1">
                <a:solidFill>
                  <a:srgbClr val="F5F7FA"/>
                </a:solidFill>
                <a:latin typeface="Arial"/>
              </a:defRPr>
            </a:pPr>
            <a:r>
              <a:t>Best Practices for Dispute Resolution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Clear contractual clauses: Include clear and comprehensive dispute resolution clauses in contracts that outline preferred mechanisms, procedures, and timelines.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Early engagement: Encourage early engagement and communication among parties to address potential issues before escalation.</a:t>
            </a:r>
          </a:p>
          <a:p>
            <a:pPr lvl="1">
              <a:spcAft>
                <a:spcPts val="300"/>
              </a:spcAft>
              <a:defRPr sz="1330" b="0">
                <a:solidFill>
                  <a:srgbClr val="C2CAD6"/>
                </a:solidFill>
                <a:latin typeface="Arial"/>
              </a:defRPr>
            </a:pPr>
            <a:r>
              <a:t>Documentation: Maintain thorough documentation of project activities, communications, and decisions to support the resolution process.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86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7.5 Dispute Resolution Mechanisms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550" b="1">
                <a:solidFill>
                  <a:srgbClr val="F5F7FA"/>
                </a:solidFill>
                <a:latin typeface="Arial"/>
              </a:defRPr>
            </a:pPr>
            <a:r>
              <a:t>Best Practices for Dispute Resolution (contd.)</a:t>
            </a:r>
          </a:p>
          <a:p>
            <a:pPr lvl="1">
              <a:spcAft>
                <a:spcPts val="300"/>
              </a:spcAft>
              <a:defRPr sz="1430" b="0">
                <a:solidFill>
                  <a:srgbClr val="C2CAD6"/>
                </a:solidFill>
                <a:latin typeface="Arial"/>
              </a:defRPr>
            </a:pPr>
            <a:r>
              <a:t>Training and awareness: Provide training for project teams on dispute resolution processes and best practices.</a:t>
            </a:r>
          </a:p>
          <a:p>
            <a:pPr>
              <a:spcAft>
                <a:spcPts val="500"/>
              </a:spcAft>
              <a:defRPr sz="1550" b="1">
                <a:solidFill>
                  <a:srgbClr val="F5F7FA"/>
                </a:solidFill>
                <a:latin typeface="Arial"/>
              </a:defRPr>
            </a:pPr>
            <a:r>
              <a:t>Challenges in Dispute Resolution</a:t>
            </a:r>
          </a:p>
          <a:p>
            <a:pPr lvl="1">
              <a:spcAft>
                <a:spcPts val="300"/>
              </a:spcAft>
              <a:defRPr sz="1430" b="0">
                <a:solidFill>
                  <a:srgbClr val="C2CAD6"/>
                </a:solidFill>
                <a:latin typeface="Arial"/>
              </a:defRPr>
            </a:pPr>
            <a:r>
              <a:t>Resistance to resolution: Parties may be unwilling to engage constructively, especially if relationships are strained.</a:t>
            </a:r>
          </a:p>
          <a:p>
            <a:pPr lvl="1">
              <a:spcAft>
                <a:spcPts val="300"/>
              </a:spcAft>
              <a:defRPr sz="1430" b="0">
                <a:solidFill>
                  <a:srgbClr val="C2CAD6"/>
                </a:solidFill>
                <a:latin typeface="Arial"/>
              </a:defRPr>
            </a:pPr>
            <a:r>
              <a:t>Complexity of issues: Technical, legal, and financial issues can make resolution challenging.</a:t>
            </a:r>
          </a:p>
          <a:p>
            <a:pPr lvl="1">
              <a:spcAft>
                <a:spcPts val="300"/>
              </a:spcAft>
              <a:defRPr sz="1430" b="0">
                <a:solidFill>
                  <a:srgbClr val="C2CAD6"/>
                </a:solidFill>
                <a:latin typeface="Arial"/>
              </a:defRPr>
            </a:pPr>
            <a:r>
              <a:t>Cultural differences in international projects can affect communication and negotiation styles.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87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87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960120" y="1417320"/>
            <a:ext cx="4480560" cy="54864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40680" y="1417320"/>
            <a:ext cx="182880" cy="201168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60120" y="3429000"/>
            <a:ext cx="4663440" cy="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0120" y="1965960"/>
            <a:ext cx="0" cy="146304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70432" y="2212848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rial"/>
              </a:defRPr>
            </a:pPr>
            <a:r>
              <a:t>Section 8: Sustainability and Ethical Considerations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21808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2CAD6"/>
                </a:solidFill>
                <a:latin typeface="Arial"/>
              </a:defRPr>
            </a:pPr>
            <a:r>
              <a:t>The better the question. The better the answer. The better the world works.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Topics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4709160"/>
            <a:ext cx="164592" cy="50292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82711" y="4389120"/>
            <a:ext cx="164592" cy="82296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38744" y="3977639"/>
            <a:ext cx="164592" cy="123444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94776" y="3520440"/>
            <a:ext cx="164592" cy="169164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50808" y="3154680"/>
            <a:ext cx="164592" cy="205740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7543800" y="4160520"/>
            <a:ext cx="1645920" cy="1005840"/>
          </a:xfrm>
          <a:prstGeom prst="line">
            <a:avLst/>
          </a:prstGeom>
          <a:ln w="25400">
            <a:solidFill>
              <a:srgbClr val="4B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8.1 Importance of Sustainability in Infrastructure Procurement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8.2 Ethical Procurement Practices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8.3 Environmental Impact Assessments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8.4 Social Responsibility and Community Engagement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8.5 Incorporating Sustainability Into Procurement Strategies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89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8.1 Importance of Sustainability in Infrastructure Procurement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Sustainability is essential in reducing the environmental footprint of infrastructure projects.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Integrating sustainable practices enhances resource efficiency and reduces waste.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Sustainable procurement can lead to cost savings in the long term.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Promotes innovation by encouraging the use of green technologies.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Improves public perception and compliance with environmental regulations.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90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8.2 Ethical Procurement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Ensures transparency and fairness in supplier selection processes.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Mitigates risks associated with corruption and unethical behavior.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Builds trust with stakeholders, including clients and suppliers.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Promotes corporate social responsibility and ethical conduct.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Aligns with global standards and regulations on ethical trade.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91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8.3 Environmental Impact Assessments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Critical in predicting and mitigating environmental impacts of projects.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Helps in making informed decisions to minimize negative effects.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Ensures compliance with environmental laws and standards.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Identifies potential risks to ecosystems and wildlife habitats.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Facilitates stakeholder engagement through transparent communication.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8.4 Social Responsibility and Community Engagement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Enhances corporate reputation and customer loyalty through community involvement.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Identifies and addresses social impacts and concerns in project planning.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Promotes job creation and economic growth in local communities.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Fosters partnerships and collaboration with local stakeholders.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Ensures projects generate social value beyond financial returns.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93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8.5 Incorporating Sustainability Into Procurement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Develops criteria for selecting sustainable suppliers and materials.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Includes sustainability goals in procurement policy and contracts.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Monitors and evaluates supplier performance on sustainability metrics.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Facilitates continuous improvement in sustainable procurement practices.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Leverages technology to track and report sustainability outcomes.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94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94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960120" y="1417320"/>
            <a:ext cx="4480560" cy="54864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40680" y="1417320"/>
            <a:ext cx="182880" cy="201168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60120" y="3429000"/>
            <a:ext cx="4663440" cy="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0120" y="1965960"/>
            <a:ext cx="0" cy="146304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70432" y="2212848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rial"/>
              </a:defRPr>
            </a:pPr>
            <a:r>
              <a:t>Section 9: Future Trends in Infrastructure Procurement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21808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2CAD6"/>
                </a:solidFill>
                <a:latin typeface="Arial"/>
              </a:defRPr>
            </a:pPr>
            <a:r>
              <a:t>The better the question. The better the answer. The better the world works.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Topics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4709160"/>
            <a:ext cx="164592" cy="50292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82711" y="4389120"/>
            <a:ext cx="164592" cy="82296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38744" y="3977639"/>
            <a:ext cx="164592" cy="123444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94776" y="3520440"/>
            <a:ext cx="164592" cy="169164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50808" y="3154680"/>
            <a:ext cx="164592" cy="205740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7543800" y="4160520"/>
            <a:ext cx="1645920" cy="1005840"/>
          </a:xfrm>
          <a:prstGeom prst="line">
            <a:avLst/>
          </a:prstGeom>
          <a:ln w="25400">
            <a:solidFill>
              <a:srgbClr val="4B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9.1 Technological Innovations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9.2 Digital Procurement Solutions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9.3 The Role of Data Analytics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9.4 Evolving Regulatory Landscapes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9.5 Future Skills and Competencies for Procurement Professionals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9.1 Technological Innovations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Blockchain enhances transparency and security in procurement.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AI and automation streamline processes and improve accuracy.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IoT facilitates real-time supply chain management.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Cloud computing offers scalable data solutions.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Augmented reality aids complex procurement decisions.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97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9.2 Digital Procurement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E-procurement platforms reduce time and costs.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Supplier portals enhance vendor-buyer collaboration.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Mobile apps enable purchasing flexibility.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Big data analytics identifies procurement opportunities.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Customizable software meets business needs.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9.3 The Role of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Predictive analytics optimize procurement planning.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Real-time data enhances decision-making.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Prescriptive analytics guide strategy.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Data visualization simplifies complex data.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Machine learning improves analytic accuracy.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99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9.4 Evolving Regulatory Landscapes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Compliance demands adaptation in procurement.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Data protection laws require secure processes.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Anti-corruption regulations support transparency.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Environmental rules encourage sustainable practices.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Trade agreements affect global suppliers.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9.5 Future Skills and Competencies for Procurement Professionals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Digital literacy is crucial for using technology effectively.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Strategic thinking aligns procurement with goals.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Analytical skills drive data-driven decisions.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Negotiation secures favorable outcomes.</a:t>
            </a:r>
          </a:p>
          <a:p>
            <a:pPr>
              <a:spcAft>
                <a:spcPts val="500"/>
              </a:spcAft>
              <a:defRPr sz="1700" b="0">
                <a:solidFill>
                  <a:srgbClr val="F5F7FA"/>
                </a:solidFill>
                <a:latin typeface="Arial"/>
              </a:defRPr>
            </a:pPr>
            <a:r>
              <a:t>Adaptability fosters resilience in changing markets.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101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101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960120" y="1417320"/>
            <a:ext cx="4480560" cy="54864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40680" y="1417320"/>
            <a:ext cx="182880" cy="201168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960120" y="3429000"/>
            <a:ext cx="4663440" cy="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0120" y="1965960"/>
            <a:ext cx="0" cy="1463040"/>
          </a:xfrm>
          <a:prstGeom prst="line">
            <a:avLst/>
          </a:prstGeom>
          <a:ln w="50800">
            <a:solidFill>
              <a:srgbClr val="EEE2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70432" y="2212848"/>
            <a:ext cx="71323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7FA"/>
                </a:solidFill>
                <a:latin typeface="Arial"/>
              </a:defRPr>
            </a:pPr>
            <a:r>
              <a:t>Appendices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21808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2CAD6"/>
                </a:solidFill>
                <a:latin typeface="Arial"/>
              </a:defRPr>
            </a:pPr>
            <a:r>
              <a:t>The better the question. The better the answer. The better the world works.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Topics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4709160"/>
            <a:ext cx="164592" cy="50292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82711" y="4389120"/>
            <a:ext cx="164592" cy="82296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38744" y="3977639"/>
            <a:ext cx="164592" cy="123444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94776" y="3520440"/>
            <a:ext cx="164592" cy="169164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50808" y="3154680"/>
            <a:ext cx="164592" cy="2057400"/>
          </a:xfrm>
          <a:prstGeom prst="rect">
            <a:avLst/>
          </a:prstGeom>
          <a:solidFill>
            <a:srgbClr val="4BD2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7543800" y="4160520"/>
            <a:ext cx="1645920" cy="1005840"/>
          </a:xfrm>
          <a:prstGeom prst="line">
            <a:avLst/>
          </a:prstGeom>
          <a:ln w="25400">
            <a:solidFill>
              <a:srgbClr val="4B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Appendix A: Glossary of Terms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Appendix B: Sample Templates and Checklists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Appendix C: Case Studies of Successful Infrastructure Procurement</a:t>
            </a:r>
          </a:p>
          <a:p>
            <a:pPr>
              <a:spcAft>
                <a:spcPts val="500"/>
              </a:spcAft>
              <a:defRPr sz="1700" b="1">
                <a:solidFill>
                  <a:srgbClr val="F5F7FA"/>
                </a:solidFill>
                <a:latin typeface="Arial"/>
              </a:defRPr>
            </a:pPr>
            <a:r>
              <a:t>Appendix D: Resources for Further Reading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D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4048" y="457200"/>
            <a:ext cx="11411712" cy="5943600"/>
          </a:xfrm>
          <a:prstGeom prst="rect">
            <a:avLst/>
          </a:prstGeom>
          <a:solidFill>
            <a:srgbClr val="1F2941"/>
          </a:solidFill>
          <a:ln w="10160">
            <a:solidFill>
              <a:srgbClr val="3C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3504" y="758952"/>
            <a:ext cx="10927080" cy="36576"/>
          </a:xfrm>
          <a:prstGeom prst="rect">
            <a:avLst/>
          </a:prstGeom>
          <a:solidFill>
            <a:srgbClr val="EEE2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6327648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C2CAD6"/>
                </a:solidFill>
                <a:latin typeface="Arial"/>
              </a:defRPr>
            </a:pPr>
            <a:r>
              <a:t>Source photo parse | original slide 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26364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EEE243"/>
                </a:solidFill>
                <a:latin typeface="Arial"/>
              </a:defRPr>
            </a:pPr>
            <a: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38912"/>
            <a:ext cx="1069848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b="1" sz="2100">
                <a:solidFill>
                  <a:srgbClr val="F5F7FA"/>
                </a:solidFill>
                <a:latin typeface="Arial"/>
              </a:defRPr>
            </a:pPr>
            <a:r>
              <a:t>EYQ Suggested TOC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24128"/>
            <a:ext cx="10607040" cy="5074920"/>
          </a:xfrm>
          <a:prstGeom prst="rect">
            <a:avLst/>
          </a:prstGeom>
          <a:noFill/>
        </p:spPr>
        <p:txBody>
          <a:bodyPr wrap="square" lIns="73152">
            <a:spAutoFit/>
          </a:bodyPr>
          <a:lstStyle/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Suggested table of contents captured from source photo.</a:t>
            </a:r>
          </a:p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Main sections visible in the source include contract management, key legal considerations, sustainability and ethical considerations, future trends, and appendices.</a:t>
            </a:r>
          </a:p>
          <a:p>
            <a:pPr>
              <a:spcAft>
                <a:spcPts val="500"/>
              </a:spcAft>
              <a:defRPr sz="1450" b="0">
                <a:solidFill>
                  <a:srgbClr val="F5F7FA"/>
                </a:solidFill>
                <a:latin typeface="Arial"/>
              </a:defRPr>
            </a:pPr>
            <a:r>
              <a:t>The thumbnail text on this slide was too small to transcribe line-by-line from the provided photo, so this slide preserves the visible purpose and context.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